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60294c12214e01" /><Relationship Type="http://schemas.openxmlformats.org/officeDocument/2006/relationships/extended-properties" Target="/docProps/app.xml" Id="Raae67400419a4ee2" /><Relationship Type="http://schemas.openxmlformats.org/officeDocument/2006/relationships/officeDocument" Target="/ppt/presentation.xml" Id="R7600c4883a6e43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f57240daf341e1"/>
  </p:sldMasterIdLst>
  <p:notesMasterIdLst>
    <p:notesMasterId xmlns:r="http://schemas.openxmlformats.org/officeDocument/2006/relationships" r:id="R0b339672614449b1"/>
  </p:notesMasterIdLst>
  <p:sldIdLst>
    <p:sldId xmlns:r="http://schemas.openxmlformats.org/officeDocument/2006/relationships" id="256" r:id="R3b4ea4e305d248a2"/>
    <p:sldId xmlns:r="http://schemas.openxmlformats.org/officeDocument/2006/relationships" id="257" r:id="Rf1300f268d414475"/>
    <p:sldId xmlns:r="http://schemas.openxmlformats.org/officeDocument/2006/relationships" id="258" r:id="Rf8be9ed696684463"/>
    <p:sldId xmlns:r="http://schemas.openxmlformats.org/officeDocument/2006/relationships" id="259" r:id="R51483f2dff444e53"/>
    <p:sldId xmlns:r="http://schemas.openxmlformats.org/officeDocument/2006/relationships" id="260" r:id="Ra1e48837f6a74012"/>
    <p:sldId xmlns:r="http://schemas.openxmlformats.org/officeDocument/2006/relationships" id="261" r:id="R18a44829430d4a8f"/>
    <p:sldId xmlns:r="http://schemas.openxmlformats.org/officeDocument/2006/relationships" id="262" r:id="R63d886d7e1d5418c"/>
    <p:sldId xmlns:r="http://schemas.openxmlformats.org/officeDocument/2006/relationships" id="263" r:id="Rdc9b09b50f314f8c"/>
    <p:sldId xmlns:r="http://schemas.openxmlformats.org/officeDocument/2006/relationships" id="264" r:id="Rf661ac51e57f45f2"/>
    <p:sldId xmlns:r="http://schemas.openxmlformats.org/officeDocument/2006/relationships" id="265" r:id="R088ba55b66324c7c"/>
    <p:sldId xmlns:r="http://schemas.openxmlformats.org/officeDocument/2006/relationships" id="266" r:id="R69d70b569564491b"/>
    <p:sldId xmlns:r="http://schemas.openxmlformats.org/officeDocument/2006/relationships" id="267" r:id="R1aa976d2ca1b4e7f"/>
    <p:sldId xmlns:r="http://schemas.openxmlformats.org/officeDocument/2006/relationships" id="268" r:id="R1ae8e94b11b24107"/>
    <p:sldId xmlns:r="http://schemas.openxmlformats.org/officeDocument/2006/relationships" id="269" r:id="R3ffb8627a36e48cd"/>
    <p:sldId xmlns:r="http://schemas.openxmlformats.org/officeDocument/2006/relationships" id="270" r:id="R7c6d2bd18405403b"/>
    <p:sldId xmlns:r="http://schemas.openxmlformats.org/officeDocument/2006/relationships" id="271" r:id="R106b255aa0f9463b"/>
    <p:sldId xmlns:r="http://schemas.openxmlformats.org/officeDocument/2006/relationships" id="272" r:id="R5e1be84e67ff4876"/>
    <p:sldId xmlns:r="http://schemas.openxmlformats.org/officeDocument/2006/relationships" id="273" r:id="Re9ec27a46f9e46fe"/>
    <p:sldId xmlns:r="http://schemas.openxmlformats.org/officeDocument/2006/relationships" id="274" r:id="Rd8239cd2ae1f4c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430966ccc04bcd" /><Relationship Type="http://schemas.openxmlformats.org/officeDocument/2006/relationships/slideMaster" Target="/ppt/slideMasters/slideMaster1.xml" Id="R4bf57240daf341e1" /><Relationship Type="http://schemas.openxmlformats.org/officeDocument/2006/relationships/notesMaster" Target="/ppt/notesMasters/notesMaster1.xml" Id="R0b339672614449b1" /><Relationship Type="http://schemas.openxmlformats.org/officeDocument/2006/relationships/presProps" Target="/ppt/presProps.xml" Id="R879558d5feda443f" /><Relationship Type="http://schemas.openxmlformats.org/officeDocument/2006/relationships/tableStyles" Target="/ppt/tableStyles.xml" Id="Rf3bc21c61df44b5e" /><Relationship Type="http://schemas.openxmlformats.org/officeDocument/2006/relationships/slide" Target="/ppt/slides/slide1.xml" Id="R3b4ea4e305d248a2" /><Relationship Type="http://schemas.openxmlformats.org/officeDocument/2006/relationships/slide" Target="/ppt/slides/slide2.xml" Id="Rf1300f268d414475" /><Relationship Type="http://schemas.openxmlformats.org/officeDocument/2006/relationships/slide" Target="/ppt/slides/slide3.xml" Id="Rf8be9ed696684463" /><Relationship Type="http://schemas.openxmlformats.org/officeDocument/2006/relationships/slide" Target="/ppt/slides/slide4.xml" Id="R51483f2dff444e53" /><Relationship Type="http://schemas.openxmlformats.org/officeDocument/2006/relationships/slide" Target="/ppt/slides/slide5.xml" Id="Ra1e48837f6a74012" /><Relationship Type="http://schemas.openxmlformats.org/officeDocument/2006/relationships/slide" Target="/ppt/slides/slide6.xml" Id="R18a44829430d4a8f" /><Relationship Type="http://schemas.openxmlformats.org/officeDocument/2006/relationships/slide" Target="/ppt/slides/slide7.xml" Id="R63d886d7e1d5418c" /><Relationship Type="http://schemas.openxmlformats.org/officeDocument/2006/relationships/slide" Target="/ppt/slides/slide8.xml" Id="Rdc9b09b50f314f8c" /><Relationship Type="http://schemas.openxmlformats.org/officeDocument/2006/relationships/slide" Target="/ppt/slides/slide9.xml" Id="Rf661ac51e57f45f2" /><Relationship Type="http://schemas.openxmlformats.org/officeDocument/2006/relationships/slide" Target="/ppt/slides/slide10.xml" Id="R088ba55b66324c7c" /><Relationship Type="http://schemas.openxmlformats.org/officeDocument/2006/relationships/slide" Target="/ppt/slides/slide11.xml" Id="R69d70b569564491b" /><Relationship Type="http://schemas.openxmlformats.org/officeDocument/2006/relationships/slide" Target="/ppt/slides/slide12.xml" Id="R1aa976d2ca1b4e7f" /><Relationship Type="http://schemas.openxmlformats.org/officeDocument/2006/relationships/slide" Target="/ppt/slides/slide13.xml" Id="R1ae8e94b11b24107" /><Relationship Type="http://schemas.openxmlformats.org/officeDocument/2006/relationships/slide" Target="/ppt/slides/slide14.xml" Id="R3ffb8627a36e48cd" /><Relationship Type="http://schemas.openxmlformats.org/officeDocument/2006/relationships/slide" Target="/ppt/slides/slide15.xml" Id="R7c6d2bd18405403b" /><Relationship Type="http://schemas.openxmlformats.org/officeDocument/2006/relationships/slide" Target="/ppt/slides/slide16.xml" Id="R106b255aa0f9463b" /><Relationship Type="http://schemas.openxmlformats.org/officeDocument/2006/relationships/slide" Target="/ppt/slides/slide17.xml" Id="R5e1be84e67ff4876" /><Relationship Type="http://schemas.openxmlformats.org/officeDocument/2006/relationships/slide" Target="/ppt/slides/slide18.xml" Id="Re9ec27a46f9e46fe" /><Relationship Type="http://schemas.openxmlformats.org/officeDocument/2006/relationships/slide" Target="/ppt/slides/slide19.xml" Id="Rd8239cd2ae1f4c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905d6f4a084e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1cc4c5839646ed" /><Relationship Type="http://schemas.openxmlformats.org/officeDocument/2006/relationships/notesMaster" Target="/ppt/notesMasters/notesMaster1.xml" Id="R856de4bf0a2742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0521f38d814391" /><Relationship Type="http://schemas.openxmlformats.org/officeDocument/2006/relationships/notesMaster" Target="/ppt/notesMasters/notesMaster1.xml" Id="Rfd3e236f718740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da16ed367a448e" /><Relationship Type="http://schemas.openxmlformats.org/officeDocument/2006/relationships/notesMaster" Target="/ppt/notesMasters/notesMaster1.xml" Id="R21b4dd503aad44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51386c811d440a" /><Relationship Type="http://schemas.openxmlformats.org/officeDocument/2006/relationships/notesMaster" Target="/ppt/notesMasters/notesMaster1.xml" Id="Rf2804193de9941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40a8a381aa48e0" /><Relationship Type="http://schemas.openxmlformats.org/officeDocument/2006/relationships/notesMaster" Target="/ppt/notesMasters/notesMaster1.xml" Id="R9db615121f7f4b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3f44a3aaa846a5" /><Relationship Type="http://schemas.openxmlformats.org/officeDocument/2006/relationships/notesMaster" Target="/ppt/notesMasters/notesMaster1.xml" Id="Rb2abdd8ce2f948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006bfbde9c4e56" /><Relationship Type="http://schemas.openxmlformats.org/officeDocument/2006/relationships/notesMaster" Target="/ppt/notesMasters/notesMaster1.xml" Id="R4f886a92354a47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024f8d45ce49c1" /><Relationship Type="http://schemas.openxmlformats.org/officeDocument/2006/relationships/notesMaster" Target="/ppt/notesMasters/notesMaster1.xml" Id="R96b95d954de544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551ae7ca0e43b8" /><Relationship Type="http://schemas.openxmlformats.org/officeDocument/2006/relationships/notesMaster" Target="/ppt/notesMasters/notesMaster1.xml" Id="R62443a2377354e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b6caca33a44401" /><Relationship Type="http://schemas.openxmlformats.org/officeDocument/2006/relationships/notesMaster" Target="/ppt/notesMasters/notesMaster1.xml" Id="Rcf78e4b8fe7d41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d21d2c8ae7d49c6" /><Relationship Type="http://schemas.openxmlformats.org/officeDocument/2006/relationships/notesMaster" Target="/ppt/notesMasters/notesMaster1.xml" Id="R739bba4ae97f4ee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501def5c51d4c4d" /><Relationship Type="http://schemas.openxmlformats.org/officeDocument/2006/relationships/notesMaster" Target="/ppt/notesMasters/notesMaster1.xml" Id="Rb33bc55a72864dc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a52ff7c18364e91" /><Relationship Type="http://schemas.openxmlformats.org/officeDocument/2006/relationships/notesMaster" Target="/ppt/notesMasters/notesMaster1.xml" Id="R811a3b61816648b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a541161963e4c92" /><Relationship Type="http://schemas.openxmlformats.org/officeDocument/2006/relationships/notesMaster" Target="/ppt/notesMasters/notesMaster1.xml" Id="Re567790d7ea6470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53d942db76147ae" /><Relationship Type="http://schemas.openxmlformats.org/officeDocument/2006/relationships/notesMaster" Target="/ppt/notesMasters/notesMaster1.xml" Id="R2ae4fd0d8c4848d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a5641dc75664809" /><Relationship Type="http://schemas.openxmlformats.org/officeDocument/2006/relationships/notesMaster" Target="/ppt/notesMasters/notesMaster1.xml" Id="R5bd6ab369ee8425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ae869e79a9941ac" /><Relationship Type="http://schemas.openxmlformats.org/officeDocument/2006/relationships/notesMaster" Target="/ppt/notesMasters/notesMaster1.xml" Id="Rb42664c8bcfd434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a4b499374b444b7" /><Relationship Type="http://schemas.openxmlformats.org/officeDocument/2006/relationships/notesMaster" Target="/ppt/notesMasters/notesMaster1.xml" Id="R225d26548563420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1414d69ec5943f4" /><Relationship Type="http://schemas.openxmlformats.org/officeDocument/2006/relationships/notesMaster" Target="/ppt/notesMasters/notesMaster1.xml" Id="Rb199645fd3594e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大家好，我们展示的是 IssueScope。我们把它定位成开源项目维护工作台，而不是单独的聊天机器人。系统从 GitHub 同步仓库事实，再把目录、源码、Issue 和历史活动组织起来，最后服务于仓库理解、问题问答和 Issue 处理。接下来会先说明产品为什么值得做，再介绍架构、关键技术、测试和团队协作。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/Users/wangguangyou/Desktop/wgy666/README.md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我们一开始没有把问题理解成“缺少一个聊天窗口”。真实场景里，开发者往往先在 README、目录、Issue 和提交记录之间来回切换，维护者还要重复完成分类、补充信息和回复。即使加入大模型，如果没有当前仓库的数据支撑，回答仍然不可验证。因此产品的核心不是生成更多文字，而是先形成统一、可查询、可追溯的仓库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/Users/wangguangyou/Desktop/wgy666/README.md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产品流程可以概括为五步：先同步仓库，再解析结构，然后支持问答和 Issue 分析，最后在维护者确认后执行回复或创建 PR。这里最重要的设计是“同一份上下文被复用”。仓库数据进入 RepositorySnapshot 后，不同成员负责的模块都从这里继续加工，而不是各自再访问 GitHub、各自保存一套数据。这样既减少接口调用，也保证各页面看到的是同一个仓库状态。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/Users/wangguangyou/Desktop/wgy666/README.md</a:t>
            </a:r>
          </a:p>
          <a:p xmlns:a="http://schemas.openxmlformats.org/drawingml/2006/main">
            <a:r>
              <a:t>- /Users/wangguangyou/Desktop/wgy666/backend/app/services/repository_sync.py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这张图来自当前运行中的系统。左侧负责选择和同步仓库，中间工作区展示仓库指标、Issue 和项目解析结果，右侧是持续存在的 Repository Agent。我们有意把问答做成嵌入式侧栏，而不是单独页面，因为开发者通常是在浏览仓库信息时产生问题。当前展示的是项目自身仓库，已经同步 397 个文件样本以及相关 Issue 和 Pull Request。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/Users/wangguangyou/Documents/Codex/ppt-issuescope-defense-v2/assets/ui-overview.png</a:t>
            </a:r>
          </a:p>
          <a:p xmlns:a="http://schemas.openxmlformats.org/drawingml/2006/main">
            <a:r>
              <a:t>- /Users/wangguangyou/Desktop/wgy666/README.md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三个创新点不是彼此独立的功能。第一，项目解析先建立一层可解释的事实底座，减少模型猜测。第二，Agent 通过工具注册表访问结构、文件、Issue 和向量检索结果，回答时带回来源。第三，Issue 自动化并不直接替维护者做决定，系统可以提出分类、回复和修复候选，但真正发回复或创建 Pull Request 时仍保留确认环节。组合起来以后，系统才能既自动化又可控。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/Users/wangguangyou/Desktop/wgy666/backend/app/services/architecture_analysis.py</a:t>
            </a:r>
          </a:p>
          <a:p xmlns:a="http://schemas.openxmlformats.org/drawingml/2006/main">
            <a:r>
              <a:t>- /Users/wangguangyou/Desktop/wgy666/backend/app/assistant/tool_registry.py</a:t>
            </a:r>
          </a:p>
          <a:p xmlns:a="http://schemas.openxmlformats.org/drawingml/2006/main">
            <a:r>
              <a:t>- /Users/wangguangyou/Desktop/wgy666/backend/app/services/auto_fix.py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项目解析是系统里不依赖 AI 的部分。后端先根据文件路径和常见配置文件完成分类，再解析 Python 和 TypeScript 中的模块、类、函数、导入、路由和测试关系。前端把这些结果组织成可点击的架构图，同时还提供依赖、入口、变更影响、健康检查和版本演化视图。它的价值不仅是“图更好看”，而是给 Agent 和 Issue 定位提供稳定、可复用的结构证据。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/Users/wangguangyou/Documents/Codex/ppt-issuescope-defense-v2/assets/ui-structure.png</a:t>
            </a:r>
          </a:p>
          <a:p xmlns:a="http://schemas.openxmlformats.org/drawingml/2006/main">
            <a:r>
              <a:t>- /Users/wangguangyou/Desktop/wgy666/backend/app/services/architecture_analysis.py</a:t>
            </a:r>
          </a:p>
          <a:p xmlns:a="http://schemas.openxmlformats.org/drawingml/2006/main">
            <a:r>
              <a:t>- /Users/wangguangyou/Desktop/wgy666/frontend/src/ProjectStructureDetails.tsx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仓库问答采用的是工具式 Agent。用户提出 What、Where 或 How 问题后，Agent 不会直接凭模型记忆回答，而是先在工具注册表中选择能力，例如项目结构、搜索文件、读取 README、列出 Issue、向量搜索或知识图谱搜索。工具返回结构化结果和引用，模型最后才组织自然语言。这种做法把推理和数据访问分开，也让每次工具调用都能被记录和测试。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/Users/wangguangyou/Desktop/wgy666/backend/app/assistant/tool_registry.py</a:t>
            </a:r>
          </a:p>
          <a:p xmlns:a="http://schemas.openxmlformats.org/drawingml/2006/main">
            <a:r>
              <a:t>- /Users/wangguangyou/Desktop/wgy666/backend/app/assistant/tools.py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 工作流从 Webhook 开始。系统先验证签名和重复事件，再根据标题、正文和标签进行规则分类；当置信度较低时才调用 LLM。分类之后可以继续查找相似 Issue、定位相关文件、生成回复建议或 FAQ。对于需要改代码的问题，系统能够形成修复候选，但执行时必须走独立分支和 Pull Request。也就是说，我们自动化的是重复步骤，而不是取消维护者的判断。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/Users/wangguangyou/Desktop/wgy666/backend/app/webhooks/handler.py</a:t>
            </a:r>
          </a:p>
          <a:p xmlns:a="http://schemas.openxmlformats.org/drawingml/2006/main">
            <a:r>
              <a:t>- /Users/wangguangyou/Desktop/wgy666/backend/app/services/issue_classifier.py</a:t>
            </a:r>
          </a:p>
          <a:p xmlns:a="http://schemas.openxmlformats.org/drawingml/2006/main">
            <a:r>
              <a:t>- /Users/wangguangyou/Desktop/wgy666/backend/app/services/auto_fix.py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整体采用分层架构。浏览器端只通过 API 与后端交互；路由层负责参数和响应；真正的仓库同步、结构解析、问答、分类和自动修复放在应用服务中。应用服务不直接依赖某一个数据库或某一种模型，而是通过统一调用约定访问存储、GitHub 客户端、工具注册表和嵌入服务。最下面的适配层再连接 PostgreSQL、pgvector、GitHub REST API 和 LLM。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/Users/wangguangyou/Desktop/wgy666/README.md</a:t>
            </a:r>
          </a:p>
          <a:p xmlns:a="http://schemas.openxmlformats.org/drawingml/2006/main">
            <a:r>
              <a:t>- /Users/wangguangyou/Desktop/wgy666/backend/app/main.py</a:t>
            </a:r>
          </a:p>
          <a:p xmlns:a="http://schemas.openxmlformats.org/drawingml/2006/main">
            <a:r>
              <a:t>- /Users/wangguangyou/Desktop/wgy666/backend/app/storage/__init__.py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这里重点说明接口化设计。以 RepositoryStore 为例，上层只关心保存、读取和列出仓库快照，本地开发可以使用内存实现，配置数据库后自动切换 PostgreSQL 实现。Agent 通过 Tool Registry 访问不同仓库工具，GitHubClient 统一封装读取、评论、分支和 PR 操作，嵌入服务把向量生成与 pgvector 检索分开。这样做的直接收益是测试时可以替换依赖，本地环境可以降级，外部服务变化也不会穿透整个业务层。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/Users/wangguangyou/Desktop/wgy666/backend/app/storage/__init__.py</a:t>
            </a:r>
          </a:p>
          <a:p xmlns:a="http://schemas.openxmlformats.org/drawingml/2006/main">
            <a:r>
              <a:t>- /Users/wangguangyou/Desktop/wgy666/backend/app/storage/memory.py</a:t>
            </a:r>
          </a:p>
          <a:p xmlns:a="http://schemas.openxmlformats.org/drawingml/2006/main">
            <a:r>
              <a:t>- /Users/wangguangyou/Desktop/wgy666/backend/app/storage/postgres.py</a:t>
            </a:r>
          </a:p>
          <a:p xmlns:a="http://schemas.openxmlformats.org/drawingml/2006/main">
            <a:r>
              <a:t>- /Users/wangguangyou/Desktop/wgy666/backend/app/assistant/tool_registry.py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我们选了两个与项目变化点真正相关的设计模式。第一是策略模式的思想：Issue 分类先执行规则策略，规则结果不确定时再切换到 LLM 兜底策略，避免所有请求都依赖模型。第二是适配器模式：内存存储和 PostgreSQL 存储提供一致的方法，上层同步和问答流程不需要知道数据到底保存在字典还是数据库。模式的目的不是把代码写复杂，而是把会变化的部分集中管理。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/Users/wangguangyou/Desktop/wgy666/backend/app/services/issue_classifier.py</a:t>
            </a:r>
          </a:p>
          <a:p xmlns:a="http://schemas.openxmlformats.org/drawingml/2006/main">
            <a:r>
              <a:t>- /Users/wangguangyou/Desktop/wgy666/backend/app/storage/__init__.py</a:t>
            </a:r>
          </a:p>
          <a:p xmlns:a="http://schemas.openxmlformats.org/drawingml/2006/main">
            <a:r>
              <a:t>- /Users/wangguangyou/Desktop/wgy666/backend/app/storage/memory.py</a:t>
            </a:r>
          </a:p>
          <a:p xmlns:a="http://schemas.openxmlformats.org/drawingml/2006/main">
            <a:r>
              <a:t>- /Users/wangguangyou/Desktop/wgy666/backend/app/storage/postgres.py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技术选型没有追求越多越好。前端用 React 和 TypeScript 完成交互工作台，XYFlow 负责结构关系图；后端用 FastAPI 和 Pydantic 保持 API 与数据模型清晰，HTTPX 负责异步访问 GitHub；PostgreSQL 同时保存快照和结构化数据，pgvector 提供向量检索。工程上后端使用 uv，前端使用 npm，密钥和连接信息通过环境变量注入，避免写入代码。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/Users/wangguangyou/Desktop/wgy666/README.md</a:t>
            </a:r>
          </a:p>
          <a:p xmlns:a="http://schemas.openxmlformats.org/drawingml/2006/main">
            <a:r>
              <a:t>- /Users/wangguangyou/Desktop/wgy666/backend/pyproject.toml</a:t>
            </a:r>
          </a:p>
          <a:p xmlns:a="http://schemas.openxmlformats.org/drawingml/2006/main">
            <a:r>
              <a:t>- /Users/wangguangyou/Desktop/wgy666/frontend/package.json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以新成员加入项目为例，他最常问的不是抽象问题，而是入口在哪里、项目怎么启动、测试怎么运行。Agent 会先调用项目结构工具识别入口候选和主要目录，再读取 README、依赖文件或测试配置，最后把答案和具体文件路径一起返回。开发者不需要从头翻仓库，但仍可以点击来源复核。这个场景能体现系统的目标：缩短理解路径，而不是用自然语言掩盖不确定性。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/Users/wangguangyou/Desktop/wgy666/backend/app/assistant/tool_registry.py</a:t>
            </a:r>
          </a:p>
          <a:p xmlns:a="http://schemas.openxmlformats.org/drawingml/2006/main">
            <a:r>
              <a:t>- /Users/wangguangyou/Desktop/wgy666/backend/app/assistant/tools.py</a:t>
            </a:r>
          </a:p>
          <a:p xmlns:a="http://schemas.openxmlformats.org/drawingml/2006/main">
            <a:r>
              <a:t>- /Users/wangguangyou/Desktop/wgy666/README.md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测试不是只统计通过数量。分类器单元测试包含规则命中、空正文、未知类别、LLM 正常返回、异常返回和调用失败等分支，共 16 项全部通过。目标模块 78 条语句中只剩 1 条未覆盖，实测覆盖率 98.72%，高于 90% 要求。系统测试用例覆盖功能基本流和备选流，以及易用性和浏览器兼容场景，本轮 37 项全部通过；前端还执行 lint 和生产构建。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/Users/wangguangyou/Desktop/wgy666/backend/reports/coverage-summary.txt</a:t>
            </a:r>
          </a:p>
          <a:p xmlns:a="http://schemas.openxmlformats.org/drawingml/2006/main">
            <a:r>
              <a:t>- /Users/wangguangyou/Desktop/wgy666/backend/reports/README.md</a:t>
            </a:r>
          </a:p>
          <a:p xmlns:a="http://schemas.openxmlformats.org/drawingml/2006/main">
            <a:r>
              <a:t>- /Users/wangguangyou/Desktop/wgy666/IssueScope系统测试用例-完成版.xlsx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质量保证按四层组织。单元层验证规则和异常分支，接口层验证 API、Webhook 和工具调用，集成层检查 PostgreSQL、pgvector、GitHub 和 LLM 配置，系统层再按用户流程执行功能、易用性和兼容性测试。测试命令在失败时会返回非零状态，覆盖率低于门槛也会直接失败。我们实际也经历过向量索引未写入和断言未同步的问题，修复后重新跑全套测试，而不是只改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/Users/wangguangyou/Desktop/wgy666/backend/reports/README.md</a:t>
            </a:r>
          </a:p>
          <a:p xmlns:a="http://schemas.openxmlformats.org/drawingml/2006/main">
            <a:r>
              <a:t>- /Users/wangguangyou/Desktop/wgy666/docs/test.md</a:t>
            </a:r>
          </a:p>
          <a:p xmlns:a="http://schemas.openxmlformats.org/drawingml/2006/main">
            <a:r>
              <a:t>- /Users/wangguangyou/Desktop/wgy666/IssueScope系统测试用例-完成版.xlsx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项目按三个迭代推进。界面原型阶段先确认需求范围和主要页面，技术原型阶段搭建架构并跑通仓库同步、问答、项目解析和 Issue 分析，构造迭代再完善未实现用例、修复缺陷并准备验收。计划采用滚动方式：最近一两天的任务写到具体页面、接口或测试，后续任务只保留目标；每次内部评审后再细化下一段。这样可以及时吸收老师和组内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/Users/wangguangyou/Desktop/6组技术原型迭代计划.docx</a:t>
            </a:r>
          </a:p>
          <a:p xmlns:a="http://schemas.openxmlformats.org/drawingml/2006/main">
            <a:r>
              <a:t>- /Users/wangguangyou/Downloads/迭代计划 (2).docx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团队没有简单按前端和后端分成两组，而是四个人各自端到端负责一个业务部分。成员一负责 GitHub 数据接入和存储，成员二负责 Agent 问答，成员三负责项目解析和可视化，成员四负责 Issue 监听、分类、FAQ 和自动修复。四个模块通过 RepositorySnapshot、API 数据模型和统一数据库连接起来。协作上使用独立分支和 Pull Request，接口变化集中联调，提示词和实现记录也保存在各自文档中。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/Users/wangguangyou/Desktop/wgy666/README.md</a:t>
            </a:r>
          </a:p>
          <a:p xmlns:a="http://schemas.openxmlformats.org/drawingml/2006/main">
            <a:r>
              <a:t>- /Users/wangguangyou/Desktop/wgy666/wgy.md</a:t>
            </a:r>
          </a:p>
          <a:p xmlns:a="http://schemas.openxmlformats.org/drawingml/2006/main">
            <a:r>
              <a:t>- /Users/wangguangyou/Desktop/wgy666/ykz.md</a:t>
            </a:r>
          </a:p>
          <a:p xmlns:a="http://schemas.openxmlformats.org/drawingml/2006/main">
            <a:r>
              <a:t>- /Users/wangguangyou/Desktop/wgy666/jyf.md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项目最大的经验是，界面能展示只是第一步，后续必须让每个结论都能回到代码、接口或测试。我们做对了几件事：先统一数据来源，把规则事实和模型推理分开，用接口隔离外部依赖，并根据真实失败不断修正实现。仍然存在需要继续完善的地方，例如大仓库同步应当进入后台任务，跨语言源码关系还要扩大，自动修复需要更严格的沙箱和回滚，并且应继续做多项目并发和问答质量评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/Users/wangguangyou/Desktop/wgy666/README.md</a:t>
            </a:r>
          </a:p>
          <a:p xmlns:a="http://schemas.openxmlformats.org/drawingml/2006/main">
            <a:r>
              <a:t>- /Users/wangguangyou/Desktop/wgy666/最新main代码问题清单.md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最后总结一下，IssueScope 已经完成从仓库接入、项目结构解析、仓库问答到 Issue 辅助处理的核心链路。工程上采用分层架构和接口适配，模型只通过受控工具访问仓库数据；测试方面，单元测试和系统测试全部通过，关键分类模块覆盖率达到 98.72%。以上是我们的项目汇报，谢谢老师和同学，欢迎提问。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/Users/wangguangyou/Desktop/wgy666/README.md</a:t>
            </a:r>
          </a:p>
          <a:p xmlns:a="http://schemas.openxmlformats.org/drawingml/2006/main">
            <a:r>
              <a:t>- /Users/wangguangyou/Desktop/wgy666/backend/reports/coverage-summary.txt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6e88007adc4a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246d8a7bf24867" /><Relationship Type="http://schemas.openxmlformats.org/officeDocument/2006/relationships/slideLayout" Target="/ppt/slideLayouts/slideLayout1.xml" Id="Rfb661e14c4f744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661e14c4f744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19510b99d44ad" /><Relationship Type="http://schemas.openxmlformats.org/officeDocument/2006/relationships/notesSlide" Target="/ppt/notesSlides/notesSlide1.xml" Id="R86447abcfc934c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0f50b320b449e" /><Relationship Type="http://schemas.openxmlformats.org/officeDocument/2006/relationships/notesSlide" Target="/ppt/notesSlides/notesSlide2.xml" Id="Raa56e6c2e4e748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5adabdf564655" /><Relationship Type="http://schemas.openxmlformats.org/officeDocument/2006/relationships/notesSlide" Target="/ppt/notesSlides/notesSlide3.xml" Id="Ra8b00c54f5bc42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ad71298854ebc" /><Relationship Type="http://schemas.openxmlformats.org/officeDocument/2006/relationships/image" Target="/ppt/media/image.jpeg" Id="R80f063f639e04d3b" /><Relationship Type="http://schemas.openxmlformats.org/officeDocument/2006/relationships/notesSlide" Target="/ppt/notesSlides/notesSlide4.xml" Id="R8e1ad4526cca45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5c0b035744f8a" /><Relationship Type="http://schemas.openxmlformats.org/officeDocument/2006/relationships/notesSlide" Target="/ppt/notesSlides/notesSlide5.xml" Id="R0d004bec70e04d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02da2c3024592" /><Relationship Type="http://schemas.openxmlformats.org/officeDocument/2006/relationships/image" Target="/ppt/media/image2.jpeg" Id="Re0f1d099ef624a39" /><Relationship Type="http://schemas.openxmlformats.org/officeDocument/2006/relationships/notesSlide" Target="/ppt/notesSlides/notesSlide6.xml" Id="R159bf452d49745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87b01cdc34d16" /><Relationship Type="http://schemas.openxmlformats.org/officeDocument/2006/relationships/notesSlide" Target="/ppt/notesSlides/notesSlide7.xml" Id="R7bb0f7e9dd7c46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7da33cc7f04a1b" /><Relationship Type="http://schemas.openxmlformats.org/officeDocument/2006/relationships/notesSlide" Target="/ppt/notesSlides/notesSlide8.xml" Id="R391ed46ee4504c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e2bfda8a64ee2" /><Relationship Type="http://schemas.openxmlformats.org/officeDocument/2006/relationships/notesSlide" Target="/ppt/notesSlides/notesSlide9.xml" Id="R86b882d3fe5440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f60eb181a4773" /><Relationship Type="http://schemas.openxmlformats.org/officeDocument/2006/relationships/notesSlide" Target="/ppt/notesSlides/notesSlide10.xml" Id="R20282395e40749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f48c2e59e4c6f" /><Relationship Type="http://schemas.openxmlformats.org/officeDocument/2006/relationships/notesSlide" Target="/ppt/notesSlides/notesSlide11.xml" Id="Re4b601b60aad450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efba8e82b14e7d" /><Relationship Type="http://schemas.openxmlformats.org/officeDocument/2006/relationships/notesSlide" Target="/ppt/notesSlides/notesSlide12.xml" Id="R89d68026499e49e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ccf0156ca4a6a" /><Relationship Type="http://schemas.openxmlformats.org/officeDocument/2006/relationships/notesSlide" Target="/ppt/notesSlides/notesSlide13.xml" Id="Ra7ee553195ed40d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0a2f5c1574af4" /><Relationship Type="http://schemas.openxmlformats.org/officeDocument/2006/relationships/notesSlide" Target="/ppt/notesSlides/notesSlide14.xml" Id="R36771e591a18441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795622f154ae7" /><Relationship Type="http://schemas.openxmlformats.org/officeDocument/2006/relationships/notesSlide" Target="/ppt/notesSlides/notesSlide15.xml" Id="R94bccc8a84d64e4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ad1c6e18348b8" /><Relationship Type="http://schemas.openxmlformats.org/officeDocument/2006/relationships/notesSlide" Target="/ppt/notesSlides/notesSlide16.xml" Id="R99863b16f01c485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0952f7ab3436e" /><Relationship Type="http://schemas.openxmlformats.org/officeDocument/2006/relationships/notesSlide" Target="/ppt/notesSlides/notesSlide17.xml" Id="Rbc7864a5d20e43b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1012c52ef4e7a" /><Relationship Type="http://schemas.openxmlformats.org/officeDocument/2006/relationships/notesSlide" Target="/ppt/notesSlides/notesSlide18.xml" Id="R2905ff2d2a3b45f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d4be93e214bf9" /><Relationship Type="http://schemas.openxmlformats.org/officeDocument/2006/relationships/notesSlide" Target="/ppt/notesSlides/notesSlide19.xml" Id="R1ab950c730d649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D65BB4-0351-4AB8-B3A1-30229A6A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18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296859-28D1-4C4C-B01A-92F00375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17A"/>
                </a:solidFill>
              </a:defRPr>
            </a:pPr>
            <a:r>
              <a:rPr sz="975" b="1">
                <a:solidFill>
                  <a:srgbClr val="68717A"/>
                </a:solidFill>
              </a:rPr>
              <a:t>SJTU · SOFTWARE ENGINEERING · A8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22FA0-61AA-4405-A4C8-618DE59E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7191C"/>
                </a:solidFill>
              </a:defRPr>
            </a:pPr>
            <a:r>
              <a:rPr sz="4800" b="1">
                <a:solidFill>
                  <a:srgbClr val="17191C"/>
                </a:solidFill>
              </a:rPr>
              <a:t>IssueScope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A1869-9F22-44A7-8AFD-0972DA82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9D1836"/>
                </a:solidFill>
              </a:defRPr>
            </a:pPr>
            <a:r>
              <a:rPr sz="3150" b="1">
                <a:solidFill>
                  <a:srgbClr val="9D1836"/>
                </a:solidFill>
              </a:rPr>
              <a:t>把仓库上下文变成</a:t>
            </a:r>
          </a:p>
          <a:p xmlns:a="http://schemas.openxmlformats.org/drawingml/2006/main">
            <a:pPr algn="l">
              <a:defRPr sz="3150" b="1">
                <a:solidFill>
                  <a:srgbClr val="9D1836"/>
                </a:solidFill>
              </a:defRPr>
            </a:pPr>
            <a:r>
              <a:rPr sz="3150" b="1">
                <a:solidFill>
                  <a:srgbClr val="9D1836"/>
                </a:solidFill>
              </a:rPr>
              <a:t>可追溯的维护行动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3054F-FB4D-4ADD-969E-D36C7CEA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91C"/>
                </a:solidFill>
              </a:defRPr>
            </a:pPr>
            <a:r>
              <a:rPr sz="1800" b="0">
                <a:solidFill>
                  <a:srgbClr val="17191C"/>
                </a:solidFill>
              </a:rPr>
              <a:t>GitHub 仓库问答与 Issue 分析系统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0783D-E1E4-4CEF-B192-0E0E533D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57700"/>
            <a:ext cx="619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9AA1D-E3C8-4F01-8C0F-8678D505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577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8717A"/>
                </a:solidFill>
              </a:defRPr>
            </a:pPr>
            <a:r>
              <a:rPr sz="1275" b="1">
                <a:solidFill>
                  <a:srgbClr val="68717A"/>
                </a:solidFill>
              </a:rPr>
              <a:t>项目验收答辩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05C578-C912-498D-A6A7-52E23CE2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673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17A"/>
                </a:solidFill>
              </a:defRPr>
            </a:pPr>
            <a:r>
              <a:rPr sz="1125" b="0">
                <a:solidFill>
                  <a:srgbClr val="68717A"/>
                </a:solidFill>
              </a:rPr>
              <a:t>小组 6 · 2026.07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68393E-A3F6-46E8-9D48-0B3A10B2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3875"/>
            <a:ext cx="3429000" cy="557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56E5A-A078-4CC3-B6D8-B9FBDB8E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866775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C78289-BF87-4039-9B17-97DAB8B8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28775"/>
            <a:ext cx="247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CBC7"/>
                </a:solidFill>
              </a:defRPr>
            </a:pPr>
            <a:r>
              <a:rPr sz="1350" b="1">
                <a:solidFill>
                  <a:srgbClr val="C8CBC7"/>
                </a:solidFill>
              </a:rPr>
              <a:t>REPOSITORY</a:t>
            </a:r>
          </a:p>
          <a:p xmlns:a="http://schemas.openxmlformats.org/drawingml/2006/main">
            <a:pPr algn="l">
              <a:defRPr sz="1350" b="1">
                <a:solidFill>
                  <a:srgbClr val="C8CBC7"/>
                </a:solidFill>
              </a:defRPr>
            </a:pPr>
            <a:r>
              <a:rPr sz="1350" b="1">
                <a:solidFill>
                  <a:srgbClr val="C8CBC7"/>
                </a:solidFill>
              </a:rPr>
              <a:t>INTELLIGENCE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FF8ABA-E620-47F9-980B-31802C67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28900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18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79C94A-F9F9-4DFB-9911-1127E3D9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099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EB4B0"/>
                </a:solidFill>
              </a:defRPr>
            </a:pPr>
            <a:r>
              <a:rPr sz="975" b="1">
                <a:solidFill>
                  <a:srgbClr val="AEB4B0"/>
                </a:solidFill>
              </a:rPr>
              <a:t>SYNC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C510A5-2AD2-4297-8506-463BDCFC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575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同步仓库事实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716E41-B101-4C13-8820-903D05BA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481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EB4B0"/>
                </a:solidFill>
              </a:defRPr>
            </a:pPr>
            <a:r>
              <a:rPr sz="975" b="1">
                <a:solidFill>
                  <a:srgbClr val="AEB4B0"/>
                </a:solidFill>
              </a:rPr>
              <a:t>UNDERSTAND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136EE-58F2-4DBF-9519-CD1495E9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957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解析结构与关系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CE43AB-B3F4-4FF5-8B61-1E5FFAAF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86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EB4B0"/>
                </a:solidFill>
              </a:defRPr>
            </a:pPr>
            <a:r>
              <a:rPr sz="975" b="1">
                <a:solidFill>
                  <a:srgbClr val="AEB4B0"/>
                </a:solidFill>
              </a:rPr>
              <a:t>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AF6F78-819C-4E6E-8BF0-EBE70C39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9339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问答、分析与处理</a:t>
            </a:r>
          </a:p>
        </p:txBody>
      </p:sp>
    </p:spTree>
    <p:extLst>
      <p:ext uri="{BB962C8B-B14F-4D97-AF65-F5344CB8AC3E}">
        <p14:creationId xmlns:p14="http://schemas.microsoft.com/office/powerpoint/2010/main" val="915157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16F237-ABC2-4598-BB36-CA3CA559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18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F33E47-5535-43CF-985A-98F0EE24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A"/>
                </a:solidFill>
              </a:defRPr>
            </a:pPr>
            <a:r>
              <a:rPr sz="900" b="1">
                <a:solidFill>
                  <a:srgbClr val="68717A"/>
                </a:solidFill>
              </a:rPr>
              <a:t>ISSUESCOPE / FINAL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BB8BC-F94C-4FC7-9434-3DE00484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381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A"/>
                </a:solidFill>
              </a:defRPr>
            </a:pPr>
            <a:r>
              <a:rPr sz="900" b="1">
                <a:solidFill>
                  <a:srgbClr val="68717A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C3909-BA10-4E24-99A7-B2C43243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C52201-76E1-471B-9FC7-2EABC646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7A"/>
                </a:solidFill>
              </a:defRPr>
            </a:pPr>
            <a:r>
              <a:rPr sz="750" b="0">
                <a:solidFill>
                  <a:srgbClr val="68717A"/>
                </a:solidFill>
              </a:rPr>
              <a:t>A8 · GitHub 仓库问答与 Issue 分析系统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C06CD-37AE-4EF8-940F-690EFD66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1836"/>
                </a:solidFill>
              </a:defRPr>
            </a:pPr>
            <a:r>
              <a:rPr sz="975" b="1">
                <a:solidFill>
                  <a:srgbClr val="9D1836"/>
                </a:solidFill>
              </a:rPr>
              <a:t>WHY THIS PRODUCT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D6BAB9-2702-4209-820A-184994D8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67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91C"/>
                </a:solidFill>
              </a:defRPr>
            </a:pPr>
            <a:r>
              <a:rPr sz="2850" b="1">
                <a:solidFill>
                  <a:srgbClr val="17191C"/>
                </a:solidFill>
              </a:rPr>
              <a:t>维护者真正缺的，不是又一个聊天框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85AF09-D1C5-4882-9AF3-19BEFAF3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问题在于仓库上下文分散，而且无法直接支撑维护决策。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C47C0B-A323-41F2-B8BF-A1E43439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0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620076-5BDF-427C-99DF-D9B21ED1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03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91C"/>
                </a:solidFill>
              </a:defRPr>
            </a:pPr>
            <a:r>
              <a:rPr sz="1950" b="1">
                <a:solidFill>
                  <a:srgbClr val="17191C"/>
                </a:solidFill>
              </a:rPr>
              <a:t>理解成本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0674A5-6BFC-41B4-BA4D-892D1E66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4725"/>
            <a:ext cx="304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8CBD22-9FCB-449B-A0A9-BCCEBD16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3067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README、目录、入口、依赖和测试信息分散，新成员需要反复翻找。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E418FA-9E6D-4808-A51B-53C5ADE8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00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1836"/>
          </a:solidFill>
          <a:ln xmlns:a="http://schemas.openxmlformats.org/drawingml/2006/main" w="9525">
            <a:solidFill>
              <a:srgbClr val="9D183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4F41DD-3CB4-4D80-AE09-EB372856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003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91C"/>
                </a:solidFill>
              </a:defRPr>
            </a:pPr>
            <a:r>
              <a:rPr sz="1950" b="1">
                <a:solidFill>
                  <a:srgbClr val="17191C"/>
                </a:solidFill>
              </a:rPr>
              <a:t>重复劳动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B33C7D-2C0D-4BD1-B838-3EA927A9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14725"/>
            <a:ext cx="304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18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AFDDC-0D95-48D9-914D-EBF7E138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14750"/>
            <a:ext cx="3067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Issue 分类、追问信息、查重和回复占用大量维护时间。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611A35-7D92-462F-81BB-F29ED1DD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00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8CC9D3-8254-49AC-B823-AA646236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003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91C"/>
                </a:solidFill>
              </a:defRPr>
            </a:pPr>
            <a:r>
              <a:rPr sz="1950" b="1">
                <a:solidFill>
                  <a:srgbClr val="17191C"/>
                </a:solidFill>
              </a:rPr>
              <a:t>回答可信度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AABC36-77BA-4F97-B921-C22267CF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14725"/>
            <a:ext cx="304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0451E6-EA90-459E-B261-30CFCDCA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14750"/>
            <a:ext cx="3067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只依赖模型记忆时，答案容易脱离当前仓库，也很难追溯来源。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885CE3-3DBA-47D0-B095-F91B3E2E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11163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B826E4-9844-4037-A962-176860EA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816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BDB9"/>
                </a:solidFill>
              </a:defRPr>
            </a:pPr>
            <a:r>
              <a:rPr sz="1050" b="1">
                <a:solidFill>
                  <a:srgbClr val="B8BDB9"/>
                </a:solidFill>
              </a:rPr>
              <a:t>我们的切入点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20813-92A6-487F-8B1F-3C1CD156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3340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先建立可验证的仓库事实，再让 AI 基于事实完成理解和行动。</a:t>
            </a:r>
          </a:p>
        </p:txBody>
      </p:sp>
    </p:spTree>
    <p:extLst>
      <p:ext uri="{BB962C8B-B14F-4D97-AF65-F5344CB8AC3E}">
        <p14:creationId xmlns:p14="http://schemas.microsoft.com/office/powerpoint/2010/main" val="7251520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3E8B8A-BC62-47EC-A700-627EB5A1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18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E433E8-2B7D-47FB-8808-29CBA5E8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A"/>
                </a:solidFill>
              </a:defRPr>
            </a:pPr>
            <a:r>
              <a:rPr sz="900" b="1">
                <a:solidFill>
                  <a:srgbClr val="68717A"/>
                </a:solidFill>
              </a:rPr>
              <a:t>ISSUESCOPE / FINAL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13D39-DB91-4B4F-91E7-918C490C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381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A"/>
                </a:solidFill>
              </a:defRPr>
            </a:pPr>
            <a:r>
              <a:rPr sz="900" b="1">
                <a:solidFill>
                  <a:srgbClr val="68717A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601DCB-E349-4162-B86E-9B0B2B1F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46A19-EF53-454E-8E85-E4089871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7A"/>
                </a:solidFill>
              </a:defRPr>
            </a:pPr>
            <a:r>
              <a:rPr sz="750" b="0">
                <a:solidFill>
                  <a:srgbClr val="68717A"/>
                </a:solidFill>
              </a:rPr>
              <a:t>A8 · GitHub 仓库问答与 Issue 分析系统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1D46A-8958-4FDE-9C61-FB5D314E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1836"/>
                </a:solidFill>
              </a:defRPr>
            </a:pPr>
            <a:r>
              <a:rPr sz="975" b="1">
                <a:solidFill>
                  <a:srgbClr val="9D1836"/>
                </a:solidFill>
              </a:rPr>
              <a:t>PRODUCT THESIS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562722-16E6-4512-87B8-A3C5CFC0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67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91C"/>
                </a:solidFill>
              </a:defRPr>
            </a:pPr>
            <a:r>
              <a:rPr sz="2850" b="1">
                <a:solidFill>
                  <a:srgbClr val="17191C"/>
                </a:solidFill>
              </a:rPr>
              <a:t>一次同步，贯穿理解、问答和 Issue 处理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B67A0A-8221-4BF8-938F-57251991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同一份 RepositorySnapshot 被多个模块复用，避免各功能重复抓取和解释数据。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8723F2-72E0-4928-B248-AF476D32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33650"/>
            <a:ext cx="1885950" cy="203835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9D18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63A5C2-C26B-453B-944B-FD1DF72A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33650"/>
            <a:ext cx="1885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18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531F81-0860-4103-98F0-692D5C16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622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D1836"/>
                </a:solidFill>
              </a:defRPr>
            </a:pPr>
            <a:r>
              <a:rPr sz="900" b="1">
                <a:solidFill>
                  <a:srgbClr val="9D1836"/>
                </a:solidFill>
              </a:rPr>
              <a:t>SYNC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95A819-CCAF-4780-B2EA-B949137D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3372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91C"/>
                </a:solidFill>
              </a:defRPr>
            </a:pPr>
            <a:r>
              <a:rPr sz="1800" b="1">
                <a:solidFill>
                  <a:srgbClr val="17191C"/>
                </a:solidFill>
              </a:rPr>
              <a:t>仓库接入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A15962-7ADE-42D0-BC48-AF0BC14B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57600"/>
            <a:ext cx="1504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17A"/>
                </a:solidFill>
              </a:defRPr>
            </a:pPr>
            <a:r>
              <a:rPr sz="1200" b="0">
                <a:solidFill>
                  <a:srgbClr val="68717A"/>
                </a:solidFill>
              </a:rPr>
              <a:t>代码 / README / Issue / PR / Commit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4E6AB2-C484-4BA6-B920-53797076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429000"/>
            <a:ext cx="29527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solidFill>
              <a:srgbClr val="CED1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44EEF3-2593-44C1-B822-82A3EF22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533650"/>
            <a:ext cx="1885950" cy="203835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2F61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BFE01-9511-4C95-B44D-3AA1F5D0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533650"/>
            <a:ext cx="1885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1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7CFD04-189E-4A74-B63B-A05EF6AC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7622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1D5"/>
                </a:solidFill>
              </a:defRPr>
            </a:pPr>
            <a:r>
              <a:rPr sz="900" b="1">
                <a:solidFill>
                  <a:srgbClr val="2F61D5"/>
                </a:solidFill>
              </a:rPr>
              <a:t>PARSE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CC46C4-B335-48D8-BBD4-2822FEC2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13372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91C"/>
                </a:solidFill>
              </a:defRPr>
            </a:pPr>
            <a:r>
              <a:rPr sz="1800" b="1">
                <a:solidFill>
                  <a:srgbClr val="17191C"/>
                </a:solidFill>
              </a:rPr>
              <a:t>结构解析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0E09A0-D3B0-4B20-8E99-1DC43092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657600"/>
            <a:ext cx="1504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17A"/>
                </a:solidFill>
              </a:defRPr>
            </a:pPr>
            <a:r>
              <a:rPr sz="1200" b="0">
                <a:solidFill>
                  <a:srgbClr val="68717A"/>
                </a:solidFill>
              </a:rPr>
              <a:t>目录 / 依赖 / 入口 / 测试 / 关系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D414B8-DE6A-4EC2-9EBD-F10667B0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29527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solidFill>
              <a:srgbClr val="CED1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18F700-F691-4735-80EB-D4482DC7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533650"/>
            <a:ext cx="1885950" cy="203835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147B5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EF2E3C-80BD-40C7-8206-01FC5A17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533650"/>
            <a:ext cx="1885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1A4873-ADCA-47A4-BB9D-B37EB4D9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7622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B55"/>
                </a:solidFill>
              </a:defRPr>
            </a:pPr>
            <a:r>
              <a:rPr sz="900" b="1">
                <a:solidFill>
                  <a:srgbClr val="147B55"/>
                </a:solidFill>
              </a:rPr>
              <a:t>ASK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E20F63-0C5C-47EC-B982-78C38F0E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13372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91C"/>
                </a:solidFill>
              </a:defRPr>
            </a:pPr>
            <a:r>
              <a:rPr sz="1800" b="1">
                <a:solidFill>
                  <a:srgbClr val="17191C"/>
                </a:solidFill>
              </a:rPr>
              <a:t>仓库问答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3B463E-3F90-48ED-936C-A818087D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657600"/>
            <a:ext cx="1504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17A"/>
                </a:solidFill>
              </a:defRPr>
            </a:pPr>
            <a:r>
              <a:rPr sz="1200" b="0">
                <a:solidFill>
                  <a:srgbClr val="68717A"/>
                </a:solidFill>
              </a:rPr>
              <a:t>What / Where / How + 引用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EDE4EB-029E-4431-9298-E53C4D6F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29000"/>
            <a:ext cx="29527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solidFill>
              <a:srgbClr val="CED1C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7872AF-0EB2-443E-BC33-FDD9F95F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533650"/>
            <a:ext cx="1885950" cy="203835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B26A1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48FC96-A2A7-47C2-AA71-D465BDE0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533650"/>
            <a:ext cx="1885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6A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B642E4-AE0B-4ACC-93B2-AD37F188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7622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26A17"/>
                </a:solidFill>
              </a:defRPr>
            </a:pPr>
            <a:r>
              <a:rPr sz="900" b="1">
                <a:solidFill>
                  <a:srgbClr val="B26A17"/>
                </a:solidFill>
              </a:rPr>
              <a:t>TRIAGE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6DD4FF-A04C-400B-A6FA-56BD8C2E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13372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91C"/>
                </a:solidFill>
              </a:defRPr>
            </a:pPr>
            <a:r>
              <a:rPr sz="1800" b="1">
                <a:solidFill>
                  <a:srgbClr val="17191C"/>
                </a:solidFill>
              </a:rPr>
              <a:t>Issue 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9E1AFE-A8F7-48D2-9241-3F176354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657600"/>
            <a:ext cx="1504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17A"/>
                </a:solidFill>
              </a:defRPr>
            </a:pPr>
            <a:r>
              <a:rPr sz="1200" b="0">
                <a:solidFill>
                  <a:srgbClr val="68717A"/>
                </a:solidFill>
              </a:rPr>
              <a:t>分类 / 回复 / FAQ / 修复候选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D816EA-D2B4-481E-ACD3-745D0C5A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29000"/>
            <a:ext cx="29527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solidFill>
              <a:srgbClr val="CED1C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918D4A-2BD0-44A5-B0E9-36FBAB1C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533650"/>
            <a:ext cx="1885950" cy="203835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D932B8-1A84-4D60-8620-8570BD42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533650"/>
            <a:ext cx="1885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E49F1D-93CE-452D-A9C6-FB59404C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7622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191C"/>
                </a:solidFill>
              </a:defRPr>
            </a:pPr>
            <a:r>
              <a:rPr sz="900" b="1">
                <a:solidFill>
                  <a:srgbClr val="17191C"/>
                </a:solidFill>
              </a:rPr>
              <a:t>ACT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C6FEC5-027E-4E9C-A3C7-02676B0F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13372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91C"/>
                </a:solidFill>
              </a:defRPr>
            </a:pPr>
            <a:r>
              <a:rPr sz="1800" b="1">
                <a:solidFill>
                  <a:srgbClr val="17191C"/>
                </a:solidFill>
              </a:rPr>
              <a:t>维护动作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4AD42F-D13E-411A-A94E-C7F7947A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657600"/>
            <a:ext cx="1504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17A"/>
                </a:solidFill>
              </a:defRPr>
            </a:pPr>
            <a:r>
              <a:rPr sz="1200" b="0">
                <a:solidFill>
                  <a:srgbClr val="68717A"/>
                </a:solidFill>
              </a:rPr>
              <a:t>确认后回复或创建独立 PR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E38FA8-82FA-44AA-B012-642269F9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972050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D1836"/>
                </a:solidFill>
              </a:defRPr>
            </a:pPr>
            <a:r>
              <a:rPr sz="1650" b="1">
                <a:solidFill>
                  <a:srgbClr val="9D1836"/>
                </a:solidFill>
              </a:rPr>
              <a:t>统一仓库上下文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BA3770-95F2-468C-8FC2-680AFDED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314950"/>
            <a:ext cx="904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18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FA4088-373D-4BFC-80BF-C8A43024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5054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数据只同步一次，解析结果、向量检索、问答工具和 Issue 工作流都从同一事实来源读取。</a:t>
            </a:r>
          </a:p>
        </p:txBody>
      </p:sp>
    </p:spTree>
    <p:extLst>
      <p:ext uri="{BB962C8B-B14F-4D97-AF65-F5344CB8AC3E}">
        <p14:creationId xmlns:p14="http://schemas.microsoft.com/office/powerpoint/2010/main" val="583716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E6F7DA-9F62-4007-ABF9-E1994E9D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18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6C5A7-11B5-4FCE-AEF9-672DE14E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A"/>
                </a:solidFill>
              </a:defRPr>
            </a:pPr>
            <a:r>
              <a:rPr sz="900" b="1">
                <a:solidFill>
                  <a:srgbClr val="68717A"/>
                </a:solidFill>
              </a:rPr>
              <a:t>ISSUESCOPE / FINAL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10B295-D386-4F6B-BD3B-E154674E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381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A"/>
                </a:solidFill>
              </a:defRPr>
            </a:pPr>
            <a:r>
              <a:rPr sz="900" b="1">
                <a:solidFill>
                  <a:srgbClr val="68717A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D8275F-4A08-453B-A508-EC9620C3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98492-7522-4AB8-964A-C2782426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7A"/>
                </a:solidFill>
              </a:defRPr>
            </a:pPr>
            <a:r>
              <a:rPr sz="750" b="0">
                <a:solidFill>
                  <a:srgbClr val="68717A"/>
                </a:solidFill>
              </a:rPr>
              <a:t>A8 · GitHub 仓库问答与 Issue 分析系统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66A7CA-4989-4994-AF0D-EB7564EA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1836"/>
                </a:solidFill>
              </a:defRPr>
            </a:pPr>
            <a:r>
              <a:rPr sz="975" b="1">
                <a:solidFill>
                  <a:srgbClr val="9D1836"/>
                </a:solidFill>
              </a:rPr>
              <a:t>IMPLEMENTED PRODUCT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44A2FE-9697-461C-AEA1-33176428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67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91C"/>
                </a:solidFill>
              </a:defRPr>
            </a:pPr>
            <a:r>
              <a:rPr sz="2850" b="1">
                <a:solidFill>
                  <a:srgbClr val="17191C"/>
                </a:solidFill>
              </a:rPr>
              <a:t>不是概念稿：仓库上下文已经贯穿工作台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BEF2D8-3D98-45B4-83AF-604CF163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当前系统可切换真实仓库，查看仓库信息、Issue、解析结果，并在右侧继续问答。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1ACC2E-C419-4555-AE62-56279848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028825"/>
            <a:ext cx="8267700" cy="4267200"/>
          </a:xfrm>
          <a:prstGeom xmlns:a="http://schemas.openxmlformats.org/drawingml/2006/main" prst="roundRect">
            <a:avLst>
              <a:gd name="adj" fmla="val 8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f063f639e04d3b"/>
          <a:srcRect xmlns:a="http://schemas.openxmlformats.org/drawingml/2006/main" l="0" t="4623" r="0" b="46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2076450"/>
            <a:ext cx="8172450" cy="41719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CCDA35-6C14-492B-A372-A0F9BE6D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83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1836"/>
          </a:solidFill>
          <a:ln xmlns:a="http://schemas.openxmlformats.org/drawingml/2006/main" w="9525">
            <a:solidFill>
              <a:srgbClr val="9D183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C57FC6-0619-42A6-BC4A-C9399C26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C"/>
                </a:solidFill>
              </a:defRPr>
            </a:pPr>
            <a:r>
              <a:rPr sz="1500" b="1">
                <a:solidFill>
                  <a:srgbClr val="17191C"/>
                </a:solidFill>
              </a:rPr>
              <a:t>仓库上下文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068FB3-8EA0-4CBE-A648-7375D5EA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62225"/>
            <a:ext cx="1762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17A"/>
                </a:solidFill>
              </a:defRPr>
            </a:pPr>
            <a:r>
              <a:rPr sz="1125" b="0">
                <a:solidFill>
                  <a:srgbClr val="68717A"/>
                </a:solidFill>
              </a:rPr>
              <a:t>同步状态、分支和索引文件统一展示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CD0BCA-1CA0-44C7-9FE5-4BF3B7FB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098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18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466D36-5467-4B3D-978E-4B2E287F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1836"/>
          </a:solidFill>
          <a:ln xmlns:a="http://schemas.openxmlformats.org/drawingml/2006/main" w="9525">
            <a:solidFill>
              <a:srgbClr val="9D183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1DF26A-BBB7-49FD-AA8F-D4B07E57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95675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C"/>
                </a:solidFill>
              </a:defRPr>
            </a:pPr>
            <a:r>
              <a:rPr sz="1500" b="1">
                <a:solidFill>
                  <a:srgbClr val="17191C"/>
                </a:solidFill>
              </a:rPr>
              <a:t>Issue 概况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DD4DA5-E3DD-405C-B362-4B656FEB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1762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17A"/>
                </a:solidFill>
              </a:defRPr>
            </a:pPr>
            <a:r>
              <a:rPr sz="1125" b="0">
                <a:solidFill>
                  <a:srgbClr val="68717A"/>
                </a:solidFill>
              </a:rPr>
              <a:t>状态、类别和处理阶段集中呈现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630FB7-6DA2-49FA-9367-A54E7F32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957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18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5688A6-7A4D-4AB1-A92C-990A94A6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1836"/>
          </a:solidFill>
          <a:ln xmlns:a="http://schemas.openxmlformats.org/drawingml/2006/main" w="9525">
            <a:solidFill>
              <a:srgbClr val="9D183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07825B-45D0-42A2-88B9-8E9BAEBD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81550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C"/>
                </a:solidFill>
              </a:defRPr>
            </a:pPr>
            <a:r>
              <a:rPr sz="1500" b="1">
                <a:solidFill>
                  <a:srgbClr val="17191C"/>
                </a:solidFill>
              </a:rPr>
              <a:t>Agent 侧栏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4E1DDF-0219-4838-9F53-6CE0B0EF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33975"/>
            <a:ext cx="1762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17A"/>
                </a:solidFill>
              </a:defRPr>
            </a:pPr>
            <a:r>
              <a:rPr sz="1125" b="0">
                <a:solidFill>
                  <a:srgbClr val="68717A"/>
                </a:solidFill>
              </a:rPr>
              <a:t>不离开当前仓库即可继续提问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357A98-EF3B-4E93-88D1-91970462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8157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183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702625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1E71CB-1F3D-4034-AAB3-E74AFC7C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18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EF6D5-1D84-4005-B58A-3604E2D7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A"/>
                </a:solidFill>
              </a:defRPr>
            </a:pPr>
            <a:r>
              <a:rPr sz="900" b="1">
                <a:solidFill>
                  <a:srgbClr val="68717A"/>
                </a:solidFill>
              </a:rPr>
              <a:t>ISSUESCOPE / FINAL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23899-8D7C-482B-AB25-B60DD2CA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381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A"/>
                </a:solidFill>
              </a:defRPr>
            </a:pPr>
            <a:r>
              <a:rPr sz="900" b="1">
                <a:solidFill>
                  <a:srgbClr val="68717A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EEBC66-A3CF-4910-9F90-ADEA8F11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BEADE2-C498-4E2F-AE7E-76416C63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7A"/>
                </a:solidFill>
              </a:defRPr>
            </a:pPr>
            <a:r>
              <a:rPr sz="750" b="0">
                <a:solidFill>
                  <a:srgbClr val="68717A"/>
                </a:solidFill>
              </a:rPr>
              <a:t>A8 · GitHub 仓库问答与 Issue 分析系统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B7AA9-951F-4B3C-A2B0-B1E48E73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1836"/>
                </a:solidFill>
              </a:defRPr>
            </a:pPr>
            <a:r>
              <a:rPr sz="975" b="1">
                <a:solidFill>
                  <a:srgbClr val="9D1836"/>
                </a:solidFill>
              </a:rPr>
              <a:t>PRODUCT DIFFERENTIATION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A618E7-23C6-472A-98C6-6BD1364C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67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91C"/>
                </a:solidFill>
              </a:defRPr>
            </a:pPr>
            <a:r>
              <a:rPr sz="2850" b="1">
                <a:solidFill>
                  <a:srgbClr val="17191C"/>
                </a:solidFill>
              </a:rPr>
              <a:t>三个创新点，共同解决“可信”和“可行动”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81871-0AB5-447E-AC9B-19AAB98E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我们没有把创新等同于堆叠模型，而是放在事实组织、回答证据和执行边界上。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3405C8-ABA5-4523-BF16-1210025D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81225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1D5"/>
                </a:solidFill>
              </a:defRPr>
            </a:pPr>
            <a:r>
              <a:rPr sz="2250" b="1">
                <a:solidFill>
                  <a:srgbClr val="2F61D5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3E7B43-9EA9-4EAB-83E6-04D4BDDE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37172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1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31AF35-2790-428B-978B-FAEAAE14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1526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91C"/>
                </a:solidFill>
              </a:defRPr>
            </a:pPr>
            <a:r>
              <a:rPr sz="1950" b="1">
                <a:solidFill>
                  <a:srgbClr val="17191C"/>
                </a:solidFill>
              </a:rPr>
              <a:t>确定性解析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253207-9E81-4A85-B383-290B0143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62175"/>
            <a:ext cx="335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A"/>
                </a:solidFill>
              </a:defRPr>
            </a:pPr>
            <a:r>
              <a:rPr sz="1275" b="0">
                <a:solidFill>
                  <a:srgbClr val="68717A"/>
                </a:solidFill>
              </a:rPr>
              <a:t>先从路径、配置和源码关系提取稳定事实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FCA617-5438-48C1-9E3A-4BF46009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62175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91C"/>
                </a:solidFill>
              </a:defRPr>
            </a:pPr>
            <a:r>
              <a:rPr sz="1200" b="1">
                <a:solidFill>
                  <a:srgbClr val="17191C"/>
                </a:solidFill>
              </a:rPr>
              <a:t>输出结构图、依赖、入口、测试映射和版本演化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F4899C-402B-47EB-9074-713DAF0F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DE1B3A-B51E-403E-AD63-B1DDCCC3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76625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7B55"/>
                </a:solidFill>
              </a:defRPr>
            </a:pPr>
            <a:r>
              <a:rPr sz="2250" b="1">
                <a:solidFill>
                  <a:srgbClr val="147B55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25BB6F-8B5B-41AB-B535-D9A1C373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66712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908986-EEB5-499A-866E-7A5827D6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480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91C"/>
                </a:solidFill>
              </a:defRPr>
            </a:pPr>
            <a:r>
              <a:rPr sz="1950" b="1">
                <a:solidFill>
                  <a:srgbClr val="17191C"/>
                </a:solidFill>
              </a:rPr>
              <a:t>证据式 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73A443-962E-43F3-9910-BC6714AF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457575"/>
            <a:ext cx="335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A"/>
                </a:solidFill>
              </a:defRPr>
            </a:pPr>
            <a:r>
              <a:rPr sz="1275" b="0">
                <a:solidFill>
                  <a:srgbClr val="68717A"/>
                </a:solidFill>
              </a:rPr>
              <a:t>模型先选工具，再读取仓库事实，最后组织回答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01A4C0-F628-4EFB-89B3-3BF8692B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57575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91C"/>
                </a:solidFill>
              </a:defRPr>
            </a:pPr>
            <a:r>
              <a:rPr sz="1200" b="1">
                <a:solidFill>
                  <a:srgbClr val="17191C"/>
                </a:solidFill>
              </a:rPr>
              <a:t>回答附文件或 Issue 来源，便于复核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02A9E2-2CA1-448F-A08E-91A428D5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29125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B05E82-6586-4D66-938E-34EB1964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72025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D1836"/>
                </a:solidFill>
              </a:defRPr>
            </a:pPr>
            <a:r>
              <a:rPr sz="2250" b="1">
                <a:solidFill>
                  <a:srgbClr val="9D1836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612EA6-9845-4A22-911B-09114161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96252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18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70A546-11FC-4865-9BC5-8DCE09F9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7434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91C"/>
                </a:solidFill>
              </a:defRPr>
            </a:pPr>
            <a:r>
              <a:rPr sz="1950" b="1">
                <a:solidFill>
                  <a:srgbClr val="17191C"/>
                </a:solidFill>
              </a:rPr>
              <a:t>受控自动化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A93351-D74D-471F-BDF5-DBD88955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752975"/>
            <a:ext cx="335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A"/>
                </a:solidFill>
              </a:defRPr>
            </a:pPr>
            <a:r>
              <a:rPr sz="1275" b="0">
                <a:solidFill>
                  <a:srgbClr val="68717A"/>
                </a:solidFill>
              </a:rPr>
              <a:t>分类和修复建议可以自动生成，执行仍保留人工关口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12059D-7A23-49CC-9A7F-0F82E989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752975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91C"/>
                </a:solidFill>
              </a:defRPr>
            </a:pPr>
            <a:r>
              <a:rPr sz="1200" b="1">
                <a:solidFill>
                  <a:srgbClr val="17191C"/>
                </a:solidFill>
              </a:rPr>
              <a:t>独立分支与 Pull Request，不直接修改主分支</a:t>
            </a:r>
          </a:p>
        </p:txBody>
      </p:sp>
    </p:spTree>
    <p:extLst>
      <p:ext uri="{BB962C8B-B14F-4D97-AF65-F5344CB8AC3E}">
        <p14:creationId xmlns:p14="http://schemas.microsoft.com/office/powerpoint/2010/main" val="1944401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FCEDC4-EF79-4AB2-B1A8-DF62515C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18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A46CB4-AEFD-479D-8C91-7EDD55E7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A"/>
                </a:solidFill>
              </a:defRPr>
            </a:pPr>
            <a:r>
              <a:rPr sz="900" b="1">
                <a:solidFill>
                  <a:srgbClr val="68717A"/>
                </a:solidFill>
              </a:rPr>
              <a:t>ISSUESCOPE / FINAL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BB236D-DC4E-4A18-A8F5-99D382A1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381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A"/>
                </a:solidFill>
              </a:defRPr>
            </a:pPr>
            <a:r>
              <a:rPr sz="900" b="1">
                <a:solidFill>
                  <a:srgbClr val="68717A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E8773-D236-44B7-A69B-2351D51E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F99F85-2998-4DD8-9455-A9ED6107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7A"/>
                </a:solidFill>
              </a:defRPr>
            </a:pPr>
            <a:r>
              <a:rPr sz="750" b="0">
                <a:solidFill>
                  <a:srgbClr val="68717A"/>
                </a:solidFill>
              </a:rPr>
              <a:t>A8 · GitHub 仓库问答与 Issue 分析系统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1E2F2F-9DF4-4948-A279-331C2074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1836"/>
                </a:solidFill>
              </a:defRPr>
            </a:pPr>
            <a:r>
              <a:rPr sz="975" b="1">
                <a:solidFill>
                  <a:srgbClr val="9D1836"/>
                </a:solidFill>
              </a:rPr>
              <a:t>INNOVATION 01 / PROJECT INTELLIGENCE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69658D-7B80-4D7E-B4CA-4AE6EA34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67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91C"/>
                </a:solidFill>
              </a:defRPr>
            </a:pPr>
            <a:r>
              <a:rPr sz="2850" b="1">
                <a:solidFill>
                  <a:srgbClr val="17191C"/>
                </a:solidFill>
              </a:rPr>
              <a:t>先用可解释规则建立事实底座，再交给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ADA290-678C-4570-9371-F5A132B8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项目解析不依赖模型生成结论，结果可以复现、测试，也能被其他模块直接复用。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D7B94-83A9-4B25-92E8-553C0F5D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085975"/>
            <a:ext cx="6705600" cy="4152900"/>
          </a:xfrm>
          <a:prstGeom xmlns:a="http://schemas.openxmlformats.org/drawingml/2006/main" prst="roundRect">
            <a:avLst>
              <a:gd name="adj" fmla="val 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f1d099ef624a39"/>
          <a:srcRect xmlns:a="http://schemas.openxmlformats.org/drawingml/2006/main" l="4181" t="0" r="41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2133600"/>
            <a:ext cx="6610350" cy="40576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E5AE74-0DA7-4A72-BB8E-345E7F94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47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F2B09C-BC71-476B-B8E9-DA06FC26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209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1C"/>
                </a:solidFill>
              </a:defRPr>
            </a:pPr>
            <a:r>
              <a:rPr sz="1575" b="1">
                <a:solidFill>
                  <a:srgbClr val="17191C"/>
                </a:solidFill>
              </a:rPr>
              <a:t>路径与类型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CBBE3C-A6A3-4EB9-89EE-F8EA3B96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43175"/>
            <a:ext cx="323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17A"/>
                </a:solidFill>
              </a:defRPr>
            </a:pPr>
            <a:r>
              <a:rPr sz="1200" b="0">
                <a:solidFill>
                  <a:srgbClr val="68717A"/>
                </a:solidFill>
              </a:rPr>
              <a:t>源码、依赖、测试、文档、配置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8FDEA6-5A56-4EA5-8FC9-053926A7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28900"/>
            <a:ext cx="19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5F01C0-2405-4C29-B429-3CE7329F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813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269FA3-67BC-459F-9593-838862B3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3432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1C"/>
                </a:solidFill>
              </a:defRPr>
            </a:pPr>
            <a:r>
              <a:rPr sz="1575" b="1">
                <a:solidFill>
                  <a:srgbClr val="17191C"/>
                </a:solidFill>
              </a:rPr>
              <a:t>语义关系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E4A4D6-D331-47BE-BF1B-04CE2968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676650"/>
            <a:ext cx="323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17A"/>
                </a:solidFill>
              </a:defRPr>
            </a:pPr>
            <a:r>
              <a:rPr sz="1200" b="0">
                <a:solidFill>
                  <a:srgbClr val="68717A"/>
                </a:solidFill>
              </a:rPr>
              <a:t>模块、类、函数、导入、路由、测试映射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4D86BE-07CE-4BD6-8D7E-4D977BCB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62375"/>
            <a:ext cx="19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EBE60A-93E8-475D-AA5F-1B28854E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148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1836"/>
          </a:solidFill>
          <a:ln xmlns:a="http://schemas.openxmlformats.org/drawingml/2006/main" w="9525">
            <a:solidFill>
              <a:srgbClr val="9D183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BD7C24-C7CC-4F70-AE17-48877972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4767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1C"/>
                </a:solidFill>
              </a:defRPr>
            </a:pPr>
            <a:r>
              <a:rPr sz="1575" b="1">
                <a:solidFill>
                  <a:srgbClr val="17191C"/>
                </a:solidFill>
              </a:rPr>
              <a:t>工程洞察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FD8905-4A60-48B6-8445-0D35FF63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810125"/>
            <a:ext cx="323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17A"/>
                </a:solidFill>
              </a:defRPr>
            </a:pPr>
            <a:r>
              <a:rPr sz="1200" b="0">
                <a:solidFill>
                  <a:srgbClr val="68717A"/>
                </a:solidFill>
              </a:rPr>
              <a:t>变更影响、健康检查、版本演化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7E21FD-CB41-4BA6-88E3-295D5C65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81650"/>
            <a:ext cx="38290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7E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33BD2D-F523-47A2-86E3-E6F2CCBE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667375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61D5"/>
                </a:solidFill>
              </a:defRPr>
            </a:pPr>
            <a:r>
              <a:rPr sz="1275" b="1">
                <a:solidFill>
                  <a:srgbClr val="2F61D5"/>
                </a:solidFill>
              </a:rPr>
              <a:t>解析结果同时服务于前端展示、Agent 工具和 Issue 定位</a:t>
            </a:r>
          </a:p>
        </p:txBody>
      </p:sp>
    </p:spTree>
    <p:extLst>
      <p:ext uri="{BB962C8B-B14F-4D97-AF65-F5344CB8AC3E}">
        <p14:creationId xmlns:p14="http://schemas.microsoft.com/office/powerpoint/2010/main" val="17844470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A7C358-3A23-4255-B31C-57EF9F71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18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73D20-9A30-4D93-98BD-532FFDC5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A"/>
                </a:solidFill>
              </a:defRPr>
            </a:pPr>
            <a:r>
              <a:rPr sz="900" b="1">
                <a:solidFill>
                  <a:srgbClr val="68717A"/>
                </a:solidFill>
              </a:rPr>
              <a:t>ISSUESCOPE / FINAL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0C6F8-C541-441B-AC3C-C8A622FB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381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A"/>
                </a:solidFill>
              </a:defRPr>
            </a:pPr>
            <a:r>
              <a:rPr sz="900" b="1">
                <a:solidFill>
                  <a:srgbClr val="68717A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7DE5EF-140C-495B-9623-35817DE5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280F64-449F-44A7-98F9-D1EA4384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7A"/>
                </a:solidFill>
              </a:defRPr>
            </a:pPr>
            <a:r>
              <a:rPr sz="750" b="0">
                <a:solidFill>
                  <a:srgbClr val="68717A"/>
                </a:solidFill>
              </a:rPr>
              <a:t>A8 · GitHub 仓库问答与 Issue 分析系统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34DAD3-0B02-43A2-A6B6-9315BBE6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1836"/>
                </a:solidFill>
              </a:defRPr>
            </a:pPr>
            <a:r>
              <a:rPr sz="975" b="1">
                <a:solidFill>
                  <a:srgbClr val="9D1836"/>
                </a:solidFill>
              </a:rPr>
              <a:t>INNOVATION 02 / EVIDENCE-FIRST 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064A35-B6A8-44D2-8BA8-7A0DFC54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67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91C"/>
                </a:solidFill>
              </a:defRPr>
            </a:pPr>
            <a:r>
              <a:rPr sz="2850" b="1">
                <a:solidFill>
                  <a:srgbClr val="17191C"/>
                </a:solidFill>
              </a:rPr>
              <a:t>答案不是直接生成，而是先查事实、再组织回答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1D4989-93AF-4ECB-94D4-89F304D7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Tool Registry 把仓库能力暴露成稳定工具，模型只负责选择与编排。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FF571-DCF6-4E06-84EC-2B16D81B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24100"/>
            <a:ext cx="2333625" cy="257175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1E2E6"/>
          </a:solidFill>
          <a:ln xmlns:a="http://schemas.openxmlformats.org/drawingml/2006/main" w="9525">
            <a:solidFill>
              <a:srgbClr val="9D18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B257CE-97A5-4D97-90D1-A732A230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050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D1836"/>
                </a:solidFill>
              </a:defRPr>
            </a:pPr>
            <a:r>
              <a:rPr sz="900" b="1">
                <a:solidFill>
                  <a:srgbClr val="9D1836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F99909-AEB1-4E87-B829-0C0294EC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512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91C"/>
                </a:solidFill>
              </a:defRPr>
            </a:pPr>
            <a:r>
              <a:rPr sz="1800" b="1">
                <a:solidFill>
                  <a:srgbClr val="17191C"/>
                </a:solidFill>
              </a:rPr>
              <a:t>用户问题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2B46B6-9097-4922-B57E-C5CAA197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38525"/>
            <a:ext cx="1952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18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061776-9909-4FDD-A8D2-349EDC4D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38550"/>
            <a:ext cx="1952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What</a:t>
            </a:r>
          </a:p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Where</a:t>
            </a:r>
          </a:p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How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6690FC-3E74-460C-8925-658C212B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05200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solidFill>
              <a:srgbClr val="CED1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A6947C-782C-46CE-AD79-5BC00E33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24100"/>
            <a:ext cx="2333625" cy="257175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9DE1A2-9E7B-4EAB-9F30-CB69A337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050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191C"/>
                </a:solidFill>
              </a:defRPr>
            </a:pPr>
            <a:r>
              <a:rPr sz="900" b="1">
                <a:solidFill>
                  <a:srgbClr val="17191C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D3D012-EA22-443A-AAEB-276D21E0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90512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91C"/>
                </a:solidFill>
              </a:defRPr>
            </a:pPr>
            <a:r>
              <a:rPr sz="1800" b="1">
                <a:solidFill>
                  <a:srgbClr val="17191C"/>
                </a:solidFill>
              </a:rPr>
              <a:t>Agent Harness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FC8F20-8CE9-48B2-9C9B-79F8A3A3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38525"/>
            <a:ext cx="1952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0267BC-400E-4F61-BC59-D97F45ED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638550"/>
            <a:ext cx="1952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判断意图</a:t>
            </a:r>
          </a:p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选择工具</a:t>
            </a:r>
          </a:p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组合上下文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8C6D5A-5035-4035-85A6-19609DDC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505200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solidFill>
              <a:srgbClr val="CED1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CC31D9-76F5-4E5B-AA7E-96AD9EE7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24100"/>
            <a:ext cx="2333625" cy="257175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E7EDF9"/>
          </a:solidFill>
          <a:ln xmlns:a="http://schemas.openxmlformats.org/drawingml/2006/main" w="9525">
            <a:solidFill>
              <a:srgbClr val="2F61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0A7432-FC1B-41F7-9BB0-2A276380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050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1D5"/>
                </a:solidFill>
              </a:defRPr>
            </a:pPr>
            <a:r>
              <a:rPr sz="900" b="1">
                <a:solidFill>
                  <a:srgbClr val="2F61D5"/>
                </a:solidFill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DE8C5A-88AD-48D6-B4A1-4A2AD616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0512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91C"/>
                </a:solidFill>
              </a:defRPr>
            </a:pPr>
            <a:r>
              <a:rPr sz="1800" b="1">
                <a:solidFill>
                  <a:srgbClr val="17191C"/>
                </a:solidFill>
              </a:rPr>
              <a:t>Tool Registry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B783A6-F700-4E67-BF3E-048D9154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38525"/>
            <a:ext cx="1952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1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611715-D58B-4A7B-8B68-AAFFCDFE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38550"/>
            <a:ext cx="1952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结构解析</a:t>
            </a:r>
          </a:p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文件读取</a:t>
            </a:r>
          </a:p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Issue 查询</a:t>
            </a:r>
          </a:p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向量 / 图检索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CEBEBF-A86D-47B0-A7BB-28BA1680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05200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solidFill>
              <a:srgbClr val="CED1C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937BB3-D801-49E1-878B-FC7DE001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24100"/>
            <a:ext cx="2333625" cy="257175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E4F0EA"/>
          </a:solidFill>
          <a:ln xmlns:a="http://schemas.openxmlformats.org/drawingml/2006/main" w="9525">
            <a:solidFill>
              <a:srgbClr val="147B5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F7FB90-8156-4FBB-A07B-946B168F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050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B55"/>
                </a:solidFill>
              </a:defRPr>
            </a:pPr>
            <a:r>
              <a:rPr sz="900" b="1">
                <a:solidFill>
                  <a:srgbClr val="147B55"/>
                </a:solidFill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E4C580-AA8B-4789-8984-649CEC0E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90512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91C"/>
                </a:solidFill>
              </a:defRPr>
            </a:pPr>
            <a:r>
              <a:rPr sz="1800" b="1">
                <a:solidFill>
                  <a:srgbClr val="17191C"/>
                </a:solidFill>
              </a:rPr>
              <a:t>带依据回答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99C225-5E5A-4A12-9807-BD473518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438525"/>
            <a:ext cx="1952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A33526-C40E-48E0-9486-F79DC725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638550"/>
            <a:ext cx="1952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结论</a:t>
            </a:r>
          </a:p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文件路径</a:t>
            </a:r>
          </a:p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Issue / URL 引用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FEA0AF-41FB-451A-A210-97B48323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1836"/>
                </a:solidFill>
              </a:defRPr>
            </a:pPr>
            <a:r>
              <a:rPr sz="975" b="1">
                <a:solidFill>
                  <a:srgbClr val="9D1836"/>
                </a:solidFill>
              </a:rPr>
              <a:t>关键边界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C4DDB3-F7D7-4CAF-B132-5C1AB1CC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1816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91C"/>
                </a:solidFill>
              </a:defRPr>
            </a:pPr>
            <a:r>
              <a:rPr sz="1650" b="1">
                <a:solidFill>
                  <a:srgbClr val="17191C"/>
                </a:solidFill>
              </a:rPr>
              <a:t>模型不直接读取数据库，也不自行访问 GitHub；所有外部动作都经过受控工具。</a:t>
            </a:r>
          </a:p>
        </p:txBody>
      </p:sp>
    </p:spTree>
    <p:extLst>
      <p:ext uri="{BB962C8B-B14F-4D97-AF65-F5344CB8AC3E}">
        <p14:creationId xmlns:p14="http://schemas.microsoft.com/office/powerpoint/2010/main" val="16592675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7DC57E-DE5D-4016-A69E-9E6E1FA3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18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B098E-EBEC-4E53-B6A7-D8593179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A"/>
                </a:solidFill>
              </a:defRPr>
            </a:pPr>
            <a:r>
              <a:rPr sz="900" b="1">
                <a:solidFill>
                  <a:srgbClr val="68717A"/>
                </a:solidFill>
              </a:rPr>
              <a:t>ISSUESCOPE / FINAL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2BECF-24E4-455E-944B-7A2CC27C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381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A"/>
                </a:solidFill>
              </a:defRPr>
            </a:pPr>
            <a:r>
              <a:rPr sz="900" b="1">
                <a:solidFill>
                  <a:srgbClr val="68717A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66F3A-5333-49FA-8A4E-46CF1B55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39843D-4B5C-4AE6-B75E-7014F12F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7A"/>
                </a:solidFill>
              </a:defRPr>
            </a:pPr>
            <a:r>
              <a:rPr sz="750" b="0">
                <a:solidFill>
                  <a:srgbClr val="68717A"/>
                </a:solidFill>
              </a:rPr>
              <a:t>A8 · GitHub 仓库问答与 Issue 分析系统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60C04C-B804-4412-A09F-93DA87B2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1836"/>
                </a:solidFill>
              </a:defRPr>
            </a:pPr>
            <a:r>
              <a:rPr sz="975" b="1">
                <a:solidFill>
                  <a:srgbClr val="9D1836"/>
                </a:solidFill>
              </a:rPr>
              <a:t>INNOVATION 03 / CONTROLLED AUTOMATION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1564B-80F4-47AB-AA9B-203A8346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67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91C"/>
                </a:solidFill>
              </a:defRPr>
            </a:pPr>
            <a:r>
              <a:rPr sz="2850" b="1">
                <a:solidFill>
                  <a:srgbClr val="17191C"/>
                </a:solidFill>
              </a:rPr>
              <a:t>Issue 自动化是一条有人工关口的维护流水线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D81D0E-77FD-493E-B7E7-E2C52A34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规则负责高频确定场景，LLM 处理低置信度情况，真正执行前仍由维护者确认。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30AE95-FC42-4251-969B-0EDF11E7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5AE6C-EFFD-4D68-AF0D-8DA3714A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19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72B48B-85A5-4BE3-AB72-9591D04D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24275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91C"/>
                </a:solidFill>
              </a:defRPr>
            </a:pPr>
            <a:r>
              <a:rPr sz="1725" b="1">
                <a:solidFill>
                  <a:srgbClr val="17191C"/>
                </a:solidFill>
              </a:rPr>
              <a:t>事件接入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77C098-4DD3-48B3-AD00-17D578FF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52900"/>
            <a:ext cx="171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A"/>
                </a:solidFill>
              </a:defRPr>
            </a:pPr>
            <a:r>
              <a:rPr sz="1275" b="0">
                <a:solidFill>
                  <a:srgbClr val="68717A"/>
                </a:solidFill>
              </a:rPr>
              <a:t>Webhook</a:t>
            </a:r>
          </a:p>
          <a:p xmlns:a="http://schemas.openxmlformats.org/drawingml/2006/main">
            <a:pPr algn="l">
              <a:defRPr sz="1275" b="0">
                <a:solidFill>
                  <a:srgbClr val="68717A"/>
                </a:solidFill>
              </a:defRPr>
            </a:pPr>
            <a:r>
              <a:rPr sz="1275" b="0">
                <a:solidFill>
                  <a:srgbClr val="68717A"/>
                </a:solidFill>
              </a:rPr>
              <a:t>HMAC 校验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441C13-7986-44DD-AA5E-A7BCAFA0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676525"/>
            <a:ext cx="495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solidFill>
              <a:srgbClr val="CED1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76126E-6423-4E40-BD23-41F2399C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76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1D5"/>
          </a:solidFill>
          <a:ln xmlns:a="http://schemas.openxmlformats.org/drawingml/2006/main" w="9525">
            <a:solidFill>
              <a:srgbClr val="2F61D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7BBAC6-FB73-457D-BE9F-6409BD1E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05125"/>
            <a:ext cx="19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1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36E8F6-8A08-4634-A560-F5113F73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24275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91C"/>
                </a:solidFill>
              </a:defRPr>
            </a:pPr>
            <a:r>
              <a:rPr sz="1725" b="1">
                <a:solidFill>
                  <a:srgbClr val="17191C"/>
                </a:solidFill>
              </a:rPr>
              <a:t>分类判断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965B19-2E98-4171-9CC0-5124A2EB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152900"/>
            <a:ext cx="171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A"/>
                </a:solidFill>
              </a:defRPr>
            </a:pPr>
            <a:r>
              <a:rPr sz="1275" b="0">
                <a:solidFill>
                  <a:srgbClr val="68717A"/>
                </a:solidFill>
              </a:rPr>
              <a:t>规则优先</a:t>
            </a:r>
          </a:p>
          <a:p xmlns:a="http://schemas.openxmlformats.org/drawingml/2006/main">
            <a:pPr algn="l">
              <a:defRPr sz="1275" b="0">
                <a:solidFill>
                  <a:srgbClr val="68717A"/>
                </a:solidFill>
              </a:defRPr>
            </a:pPr>
            <a:r>
              <a:rPr sz="1275" b="0">
                <a:solidFill>
                  <a:srgbClr val="68717A"/>
                </a:solidFill>
              </a:rPr>
              <a:t>LLM 兜底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13B267-2CFD-4C4A-9AE2-FB2C12C0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76525"/>
            <a:ext cx="495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solidFill>
              <a:srgbClr val="CED1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2C3D80-5500-49F8-A24A-5524C162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76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B55"/>
          </a:solidFill>
          <a:ln xmlns:a="http://schemas.openxmlformats.org/drawingml/2006/main" w="9525">
            <a:solidFill>
              <a:srgbClr val="147B5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0DFBF2-6F7E-4964-9876-E87AA28A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05125"/>
            <a:ext cx="19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512EFE-3492-4C7F-A5FB-8D6FACF9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24275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91C"/>
                </a:solidFill>
              </a:defRPr>
            </a:pPr>
            <a:r>
              <a:rPr sz="1725" b="1">
                <a:solidFill>
                  <a:srgbClr val="17191C"/>
                </a:solidFill>
              </a:rPr>
              <a:t>上下文定位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5F0A63-A26F-4A84-A06C-A80C1910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52900"/>
            <a:ext cx="171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A"/>
                </a:solidFill>
              </a:defRPr>
            </a:pPr>
            <a:r>
              <a:rPr sz="1275" b="0">
                <a:solidFill>
                  <a:srgbClr val="68717A"/>
                </a:solidFill>
              </a:rPr>
              <a:t>相似 Issue</a:t>
            </a:r>
          </a:p>
          <a:p xmlns:a="http://schemas.openxmlformats.org/drawingml/2006/main">
            <a:pPr algn="l">
              <a:defRPr sz="1275" b="0">
                <a:solidFill>
                  <a:srgbClr val="68717A"/>
                </a:solidFill>
              </a:defRPr>
            </a:pPr>
            <a:r>
              <a:rPr sz="1275" b="0">
                <a:solidFill>
                  <a:srgbClr val="68717A"/>
                </a:solidFill>
              </a:rPr>
              <a:t>相关文件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3CA8C1-EEDD-4293-B8BD-A8B2F775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76525"/>
            <a:ext cx="495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solidFill>
              <a:srgbClr val="CED1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CE6F12-F8A0-4A43-86C4-514EB931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76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6A17"/>
          </a:solidFill>
          <a:ln xmlns:a="http://schemas.openxmlformats.org/drawingml/2006/main" w="9525">
            <a:solidFill>
              <a:srgbClr val="B26A1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9690E3-07D1-43A0-BBE4-8EBAD3BF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05125"/>
            <a:ext cx="19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6A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854EEE-8D36-4019-AF69-715F0357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724275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91C"/>
                </a:solidFill>
              </a:defRPr>
            </a:pPr>
            <a:r>
              <a:rPr sz="1725" b="1">
                <a:solidFill>
                  <a:srgbClr val="17191C"/>
                </a:solidFill>
              </a:rPr>
              <a:t>生成建议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87E095-0D61-4244-BCA8-31FFA0B5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52900"/>
            <a:ext cx="171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A"/>
                </a:solidFill>
              </a:defRPr>
            </a:pPr>
            <a:r>
              <a:rPr sz="1275" b="0">
                <a:solidFill>
                  <a:srgbClr val="68717A"/>
                </a:solidFill>
              </a:rPr>
              <a:t>回复 / FAQ</a:t>
            </a:r>
          </a:p>
          <a:p xmlns:a="http://schemas.openxmlformats.org/drawingml/2006/main">
            <a:pPr algn="l">
              <a:defRPr sz="1275" b="0">
                <a:solidFill>
                  <a:srgbClr val="68717A"/>
                </a:solidFill>
              </a:defRPr>
            </a:pPr>
            <a:r>
              <a:rPr sz="1275" b="0">
                <a:solidFill>
                  <a:srgbClr val="68717A"/>
                </a:solidFill>
              </a:rPr>
              <a:t>修复候选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CC2EB6-98C9-4F26-B059-C8DD113C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76525"/>
            <a:ext cx="495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solidFill>
              <a:srgbClr val="CED1C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7F6ED6-D249-4E49-9A0B-FFD08C02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1836"/>
          </a:solidFill>
          <a:ln xmlns:a="http://schemas.openxmlformats.org/drawingml/2006/main" w="9525">
            <a:solidFill>
              <a:srgbClr val="9D183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C201A7-F960-4070-9DEC-D67FBBB3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05125"/>
            <a:ext cx="19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18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DE10A0-35F9-4A0A-8DFC-1A9D3565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24275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91C"/>
                </a:solidFill>
              </a:defRPr>
            </a:pPr>
            <a:r>
              <a:rPr sz="1725" b="1">
                <a:solidFill>
                  <a:srgbClr val="17191C"/>
                </a:solidFill>
              </a:rPr>
              <a:t>人工确认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632CF4-29AA-4613-852B-27921091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52900"/>
            <a:ext cx="171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A"/>
                </a:solidFill>
              </a:defRPr>
            </a:pPr>
            <a:r>
              <a:rPr sz="1275" b="0">
                <a:solidFill>
                  <a:srgbClr val="68717A"/>
                </a:solidFill>
              </a:rPr>
              <a:t>发布回复</a:t>
            </a:r>
          </a:p>
          <a:p xmlns:a="http://schemas.openxmlformats.org/drawingml/2006/main">
            <a:pPr algn="l">
              <a:defRPr sz="1275" b="0">
                <a:solidFill>
                  <a:srgbClr val="68717A"/>
                </a:solidFill>
              </a:defRPr>
            </a:pPr>
            <a:r>
              <a:rPr sz="1275" b="0">
                <a:solidFill>
                  <a:srgbClr val="68717A"/>
                </a:solidFill>
              </a:rPr>
              <a:t>或创建 PR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5E847B-CF15-452E-93DB-D37D254A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81600"/>
            <a:ext cx="11144250" cy="7810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1E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619F21-8041-4983-9851-5CE649AA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05425"/>
            <a:ext cx="1285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1836"/>
                </a:solidFill>
              </a:defRPr>
            </a:pPr>
            <a:r>
              <a:rPr sz="975" b="1">
                <a:solidFill>
                  <a:srgbClr val="9D1836"/>
                </a:solidFill>
              </a:rPr>
              <a:t>安全边界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8962F0-7F05-481A-A146-0F56978D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2768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D1836"/>
                </a:solidFill>
              </a:defRPr>
            </a:pPr>
            <a:r>
              <a:rPr sz="1650" b="1">
                <a:solidFill>
                  <a:srgbClr val="9D1836"/>
                </a:solidFill>
              </a:rPr>
              <a:t>自动修复只在独立分支提交修改并发起 Pull Request，不直接写入主分支。</a:t>
            </a:r>
          </a:p>
        </p:txBody>
      </p:sp>
    </p:spTree>
    <p:extLst>
      <p:ext uri="{BB962C8B-B14F-4D97-AF65-F5344CB8AC3E}">
        <p14:creationId xmlns:p14="http://schemas.microsoft.com/office/powerpoint/2010/main" val="14912449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95450-BA11-409B-831E-CD4E6CBE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18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BF50BE-726C-4A3A-9208-8BC90CD9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A"/>
                </a:solidFill>
              </a:defRPr>
            </a:pPr>
            <a:r>
              <a:rPr sz="900" b="1">
                <a:solidFill>
                  <a:srgbClr val="68717A"/>
                </a:solidFill>
              </a:rPr>
              <a:t>ISSUESCOPE / FINAL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6FBF7-1B01-45B2-9674-F0F33A82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381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A"/>
                </a:solidFill>
              </a:defRPr>
            </a:pPr>
            <a:r>
              <a:rPr sz="900" b="1">
                <a:solidFill>
                  <a:srgbClr val="68717A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F22F9-2775-4F76-AD91-37B157BF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6D07E1-2E37-4E1A-88E4-44591D23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7A"/>
                </a:solidFill>
              </a:defRPr>
            </a:pPr>
            <a:r>
              <a:rPr sz="750" b="0">
                <a:solidFill>
                  <a:srgbClr val="68717A"/>
                </a:solidFill>
              </a:rPr>
              <a:t>A8 · GitHub 仓库问答与 Issue 分析系统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54402-C665-4DFD-AD62-54BB2374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1836"/>
                </a:solidFill>
              </a:defRPr>
            </a:pPr>
            <a:r>
              <a:rPr sz="975" b="1">
                <a:solidFill>
                  <a:srgbClr val="9D1836"/>
                </a:solidFill>
              </a:rPr>
              <a:t>SOFTWARE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779539-462C-40CF-8C37-65AEB23C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67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91C"/>
                </a:solidFill>
              </a:defRPr>
            </a:pPr>
            <a:r>
              <a:rPr sz="2850" b="1">
                <a:solidFill>
                  <a:srgbClr val="17191C"/>
                </a:solidFill>
              </a:rPr>
              <a:t>分层架构把业务流程与外部系统隔开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119D3-A031-4837-938B-D0696390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API 只负责接入请求，应用层编排用例，接口契约隔离 GitHub、数据库和模型差异。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117467-CA16-47D8-BC9F-B51F9DE6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9315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6DD99A-B81A-439B-8B35-044BB8D1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288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91C"/>
                </a:solidFill>
              </a:defRPr>
            </a:pPr>
            <a:r>
              <a:rPr sz="975" b="1">
                <a:solidFill>
                  <a:srgbClr val="17191C"/>
                </a:solidFill>
              </a:rPr>
              <a:t>WEB CLIENT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5E9484-E612-4B09-B238-68A2C481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219325"/>
            <a:ext cx="6572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91C"/>
                </a:solidFill>
              </a:defRPr>
            </a:pPr>
            <a:r>
              <a:rPr sz="1350" b="0">
                <a:solidFill>
                  <a:srgbClr val="17191C"/>
                </a:solidFill>
              </a:rPr>
              <a:t>React 19 · TypeScript · Vite · XYFlow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2432DD-0A64-49C6-B14C-902C0856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724150"/>
            <a:ext cx="3619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solidFill>
              <a:srgbClr val="CED1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6F1B1A-4B88-4B40-AB29-715A9BB1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86075"/>
            <a:ext cx="9315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2E6"/>
          </a:solidFill>
          <a:ln xmlns:a="http://schemas.openxmlformats.org/drawingml/2006/main" w="9525">
            <a:solidFill>
              <a:srgbClr val="9D183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C3DBE6-8DE8-4140-9939-C5417CFC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622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1836"/>
                </a:solidFill>
              </a:defRPr>
            </a:pPr>
            <a:r>
              <a:rPr sz="975" b="1">
                <a:solidFill>
                  <a:srgbClr val="9D1836"/>
                </a:solidFill>
              </a:rPr>
              <a:t>API ROUTES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DB6EB6-B4EE-4034-96E3-FBB723EC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52750"/>
            <a:ext cx="6572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91C"/>
                </a:solidFill>
              </a:defRPr>
            </a:pPr>
            <a:r>
              <a:rPr sz="1350" b="0">
                <a:solidFill>
                  <a:srgbClr val="17191C"/>
                </a:solidFill>
              </a:rPr>
              <a:t>repositories · assistant · issues · webhooks · faq · users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3A213B-5497-452B-83E9-472899AF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457575"/>
            <a:ext cx="3619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solidFill>
              <a:srgbClr val="CED1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6F37A7-8E78-4F36-B57E-8633498E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19500"/>
            <a:ext cx="9315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BBD17B-3A31-4117-8734-75FC5488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6957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91C"/>
                </a:solidFill>
              </a:defRPr>
            </a:pPr>
            <a:r>
              <a:rPr sz="975" b="1">
                <a:solidFill>
                  <a:srgbClr val="17191C"/>
                </a:solidFill>
              </a:rPr>
              <a:t>APPLICATION SERVICES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8D3946-90F6-41D8-91E3-3CE12468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86175"/>
            <a:ext cx="6572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91C"/>
                </a:solidFill>
              </a:defRPr>
            </a:pPr>
            <a:r>
              <a:rPr sz="1350" b="1">
                <a:solidFill>
                  <a:srgbClr val="17191C"/>
                </a:solidFill>
              </a:rPr>
              <a:t>RepositorySync · ArchitectureAnalysis · AgentHarness · IssueClassifier · AutoFix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74D86F-615F-4ABB-BEDF-ADCECA9A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191000"/>
            <a:ext cx="3619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solidFill>
              <a:srgbClr val="CED1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3A5E64-6052-408D-BF13-06680EC9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52925"/>
            <a:ext cx="9315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9"/>
          </a:solidFill>
          <a:ln xmlns:a="http://schemas.openxmlformats.org/drawingml/2006/main" w="9525">
            <a:solidFill>
              <a:srgbClr val="2F61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4CB1F9-EF74-453F-BF1E-89AC9C86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2912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1D5"/>
                </a:solidFill>
              </a:defRPr>
            </a:pPr>
            <a:r>
              <a:rPr sz="975" b="1">
                <a:solidFill>
                  <a:srgbClr val="2F61D5"/>
                </a:solidFill>
              </a:rPr>
              <a:t>INTERFACE CONTRACTS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F12A90-D27D-48F4-8688-C772DB01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9600"/>
            <a:ext cx="6572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91C"/>
                </a:solidFill>
              </a:defRPr>
            </a:pPr>
            <a:r>
              <a:rPr sz="1350" b="0">
                <a:solidFill>
                  <a:srgbClr val="17191C"/>
                </a:solidFill>
              </a:rPr>
              <a:t>RepositoryStore · GitHubClient · Tool Registry · Embedding Service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4AE5F2-1D92-4BD6-A4D4-E1A35A79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924425"/>
            <a:ext cx="3619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solidFill>
              <a:srgbClr val="CED1C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67687E-518B-45C4-801C-ABD20676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86350"/>
            <a:ext cx="9315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EA"/>
          </a:solidFill>
          <a:ln xmlns:a="http://schemas.openxmlformats.org/drawingml/2006/main" w="9525">
            <a:solidFill>
              <a:srgbClr val="147B5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96C34D-FB1C-476A-BE0E-F42B6B18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625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B55"/>
                </a:solidFill>
              </a:defRPr>
            </a:pPr>
            <a:r>
              <a:rPr sz="975" b="1">
                <a:solidFill>
                  <a:srgbClr val="147B55"/>
                </a:solidFill>
              </a:rPr>
              <a:t>ADAPTERS / INFRASTRUCTURE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E7554C-0E3F-4A4C-B4AA-A7146834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53025"/>
            <a:ext cx="6572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91C"/>
                </a:solidFill>
              </a:defRPr>
            </a:pPr>
            <a:r>
              <a:rPr sz="1350" b="0">
                <a:solidFill>
                  <a:srgbClr val="17191C"/>
                </a:solidFill>
              </a:rPr>
              <a:t>PostgreSQL + pgvector · InMemory · GitHub REST · LLM API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CF3B07-93BD-4C63-8CCF-97BB31CA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8765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A"/>
                </a:solidFill>
              </a:defRPr>
            </a:pPr>
            <a:r>
              <a:rPr sz="900" b="1">
                <a:solidFill>
                  <a:srgbClr val="68717A"/>
                </a:solidFill>
              </a:rPr>
              <a:t>HTTP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1305B8-6DAC-4526-84CD-61265543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000375"/>
            <a:ext cx="142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7E5D9B-C7E5-4D1C-8414-C5316D16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7433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A"/>
                </a:solidFill>
              </a:defRPr>
            </a:pPr>
            <a:r>
              <a:rPr sz="900" b="1">
                <a:solidFill>
                  <a:srgbClr val="68717A"/>
                </a:solidFill>
              </a:rPr>
              <a:t>依赖方向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F65C8A-C95C-42BB-A207-37942073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86715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268334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02618E4-B19A-4DD4-95C1-1153F3D8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18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5692ED-4DD8-41AD-B46C-AE785EB7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A"/>
                </a:solidFill>
              </a:defRPr>
            </a:pPr>
            <a:r>
              <a:rPr sz="900" b="1">
                <a:solidFill>
                  <a:srgbClr val="68717A"/>
                </a:solidFill>
              </a:rPr>
              <a:t>ISSUESCOPE / FINAL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2BB62D-E89F-409B-B8B3-001F544B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381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A"/>
                </a:solidFill>
              </a:defRPr>
            </a:pPr>
            <a:r>
              <a:rPr sz="900" b="1">
                <a:solidFill>
                  <a:srgbClr val="68717A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F5063-B730-46C5-A9FF-580A7649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8EE518-00A9-4F6F-9819-FAA269B1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7A"/>
                </a:solidFill>
              </a:defRPr>
            </a:pPr>
            <a:r>
              <a:rPr sz="750" b="0">
                <a:solidFill>
                  <a:srgbClr val="68717A"/>
                </a:solidFill>
              </a:rPr>
              <a:t>A8 · GitHub 仓库问答与 Issue 分析系统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F5091-2694-4B5D-921B-AC0ED1AC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1836"/>
                </a:solidFill>
              </a:defRPr>
            </a:pPr>
            <a:r>
              <a:rPr sz="975" b="1">
                <a:solidFill>
                  <a:srgbClr val="9D1836"/>
                </a:solidFill>
              </a:rPr>
              <a:t>INTERFACE-BASED 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1B356-DA07-4A06-B8A0-0F325360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67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91C"/>
                </a:solidFill>
              </a:defRPr>
            </a:pPr>
            <a:r>
              <a:rPr sz="2850" b="1">
                <a:solidFill>
                  <a:srgbClr val="17191C"/>
                </a:solidFill>
              </a:rPr>
              <a:t>稳定入口，替换实现：变化被限制在适配器一侧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1FBA73-3C06-4B94-B08B-BAAA8C7E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同一业务流程可以切换本地内存、PostgreSQL、不同检索工具或外部服务，而不改上层用例。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CFCD71-C565-4754-B96A-37C2981B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1D5"/>
                </a:solidFill>
              </a:defRPr>
            </a:pPr>
            <a:r>
              <a:rPr sz="900" b="1">
                <a:solidFill>
                  <a:srgbClr val="2F61D5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5DA761-C12B-42F7-92E2-D16B1492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91C"/>
                </a:solidFill>
              </a:defRPr>
            </a:pPr>
            <a:r>
              <a:rPr sz="1725" b="1">
                <a:solidFill>
                  <a:srgbClr val="17191C"/>
                </a:solidFill>
              </a:rPr>
              <a:t>RepositoryStore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8FFCFF-938D-4DCD-BCEB-CBCD502A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19425"/>
            <a:ext cx="2381250" cy="695325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1D0916-CC8B-4F57-90EB-E015208B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EB3B0"/>
                </a:solidFill>
              </a:defRPr>
            </a:pPr>
            <a:r>
              <a:rPr sz="825" b="1">
                <a:solidFill>
                  <a:srgbClr val="AEB3B0"/>
                </a:solidFill>
              </a:rPr>
              <a:t>CONTRACT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C5ECBA-8F62-422F-985F-A2765C82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save / get / list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527A5F-8767-487C-B206-BD47CA62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14750"/>
            <a:ext cx="190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1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0E8B35-04EA-49A7-876A-D2C1F6AD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57650"/>
            <a:ext cx="2381250" cy="542925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2F61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EAE175-1D9D-41EA-AB27-A5BB62FC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91C"/>
                </a:solidFill>
              </a:defRPr>
            </a:pPr>
            <a:r>
              <a:rPr sz="1125" b="1">
                <a:solidFill>
                  <a:srgbClr val="17191C"/>
                </a:solidFill>
              </a:rPr>
              <a:t>InMemoryRepositoryStore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CB7DC0-B3D6-4358-9B34-F25480E7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72025"/>
            <a:ext cx="2381250" cy="542925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8E6E0"/>
          </a:solidFill>
          <a:ln xmlns:a="http://schemas.openxmlformats.org/drawingml/2006/main" w="9525">
            <a:solidFill>
              <a:srgbClr val="2F61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B9F41A-FAFA-4659-BA2D-30200D13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91C"/>
                </a:solidFill>
              </a:defRPr>
            </a:pPr>
            <a:r>
              <a:rPr sz="1125" b="1">
                <a:solidFill>
                  <a:srgbClr val="17191C"/>
                </a:solidFill>
              </a:rPr>
              <a:t>PostgresRepositoryStore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EF656B-41D5-4AD8-86EC-AB5A2DBF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43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B55"/>
                </a:solidFill>
              </a:defRPr>
            </a:pPr>
            <a:r>
              <a:rPr sz="900" b="1">
                <a:solidFill>
                  <a:srgbClr val="147B55"/>
                </a:solidFill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2FB531-1FD4-44B0-B3CC-2D95A9A0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574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91C"/>
                </a:solidFill>
              </a:defRPr>
            </a:pPr>
            <a:r>
              <a:rPr sz="1725" b="1">
                <a:solidFill>
                  <a:srgbClr val="17191C"/>
                </a:solidFill>
              </a:rPr>
              <a:t>Tool Registry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8E8605-0352-4E71-98C0-08FD8A96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19425"/>
            <a:ext cx="2381250" cy="695325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023033-8B17-463E-96DB-0A82318A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051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EB3B0"/>
                </a:solidFill>
              </a:defRPr>
            </a:pPr>
            <a:r>
              <a:rPr sz="825" b="1">
                <a:solidFill>
                  <a:srgbClr val="AEB3B0"/>
                </a:solidFill>
              </a:rPr>
              <a:t>CONTRACT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8E81AE-CE18-436D-B366-F5B4ECCC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24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tool schema / execute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78A857-F465-4F75-9380-21140B4A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190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8F8D2D-8E18-4975-A045-90C50CF5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57650"/>
            <a:ext cx="2381250" cy="542925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147B5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558C9C-42BA-4F4C-A423-2A3341BC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43375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91C"/>
                </a:solidFill>
              </a:defRPr>
            </a:pPr>
            <a:r>
              <a:rPr sz="1125" b="1">
                <a:solidFill>
                  <a:srgbClr val="17191C"/>
                </a:solidFill>
              </a:rPr>
              <a:t>structure / files / issues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983F07-968A-4A16-99C7-E9053AF9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772025"/>
            <a:ext cx="2381250" cy="542925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8E6E0"/>
          </a:solidFill>
          <a:ln xmlns:a="http://schemas.openxmlformats.org/drawingml/2006/main" w="9525">
            <a:solidFill>
              <a:srgbClr val="147B5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161F0E-2FA0-4968-8AC6-3F47FB29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57750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91C"/>
                </a:solidFill>
              </a:defRPr>
            </a:pPr>
            <a:r>
              <a:rPr sz="1125" b="1">
                <a:solidFill>
                  <a:srgbClr val="17191C"/>
                </a:solidFill>
              </a:rPr>
              <a:t>vector / graph / impact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4712A6-348C-4166-835D-3FFFEA82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43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D1836"/>
                </a:solidFill>
              </a:defRPr>
            </a:pPr>
            <a:r>
              <a:rPr sz="900" b="1">
                <a:solidFill>
                  <a:srgbClr val="9D1836"/>
                </a:solidFill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28B972-373B-4A27-985C-5934AAA0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574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91C"/>
                </a:solidFill>
              </a:defRPr>
            </a:pPr>
            <a:r>
              <a:rPr sz="1725" b="1">
                <a:solidFill>
                  <a:srgbClr val="17191C"/>
                </a:solidFill>
              </a:rPr>
              <a:t>GitHubClient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E9DBED-8065-4EBF-93BE-F231B66D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19425"/>
            <a:ext cx="2381250" cy="695325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004BA1-0FB7-4C89-9144-3B05CD3B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051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EB3B0"/>
                </a:solidFill>
              </a:defRPr>
            </a:pPr>
            <a:r>
              <a:rPr sz="825" b="1">
                <a:solidFill>
                  <a:srgbClr val="AEB3B0"/>
                </a:solidFill>
              </a:rPr>
              <a:t>CONTRACT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E461AB-0FEB-494C-92CA-09FC9641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24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read / comment / branch / PR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C1039F-955B-47F6-A99B-0F809335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14750"/>
            <a:ext cx="190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18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840DC3-9507-4365-A03F-4B8AE880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57650"/>
            <a:ext cx="2381250" cy="542925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9D183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4CFD31-3248-4E78-BC33-D4A4B6E7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43375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91C"/>
                </a:solidFill>
              </a:defRPr>
            </a:pPr>
            <a:r>
              <a:rPr sz="1125" b="1">
                <a:solidFill>
                  <a:srgbClr val="17191C"/>
                </a:solidFill>
              </a:rPr>
              <a:t>GitHub REST API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1088F9-0EC3-47C3-BE49-19D63220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72025"/>
            <a:ext cx="2381250" cy="542925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8E6E0"/>
          </a:solidFill>
          <a:ln xmlns:a="http://schemas.openxmlformats.org/drawingml/2006/main" w="9525">
            <a:solidFill>
              <a:srgbClr val="9D183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F7A053-7D50-45C0-9632-D6108ADC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57750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91C"/>
                </a:solidFill>
              </a:defRPr>
            </a:pPr>
            <a:r>
              <a:rPr sz="1125" b="1">
                <a:solidFill>
                  <a:srgbClr val="17191C"/>
                </a:solidFill>
              </a:rPr>
              <a:t>Webhook event handler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C11B1B-E1BB-441F-A617-9BFCC91E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43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26A17"/>
                </a:solidFill>
              </a:defRPr>
            </a:pPr>
            <a:r>
              <a:rPr sz="900" b="1">
                <a:solidFill>
                  <a:srgbClr val="B26A17"/>
                </a:solidFill>
              </a:rPr>
              <a:t>04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4B70AA-BE8B-4384-B32C-AC3F75FE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574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91C"/>
                </a:solidFill>
              </a:defRPr>
            </a:pPr>
            <a:r>
              <a:rPr sz="1725" b="1">
                <a:solidFill>
                  <a:srgbClr val="17191C"/>
                </a:solidFill>
              </a:rPr>
              <a:t>Embedding Service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CEF9DB-3E5D-400E-A325-3E49806D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19425"/>
            <a:ext cx="2381250" cy="695325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29D1BB-2730-488F-8E51-3A071B6F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051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EB3B0"/>
                </a:solidFill>
              </a:defRPr>
            </a:pPr>
            <a:r>
              <a:rPr sz="825" b="1">
                <a:solidFill>
                  <a:srgbClr val="AEB3B0"/>
                </a:solidFill>
              </a:rPr>
              <a:t>CONTRACT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09353A3-5E57-4428-B994-CA959233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242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embed / search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E6A050-356C-4349-AB95-A081B97C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14750"/>
            <a:ext cx="190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6A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3CA3EC-729D-4CAF-8A36-51944116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57650"/>
            <a:ext cx="2381250" cy="542925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B26A1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28616B-A632-4D89-984F-4C88F7AA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43375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91C"/>
                </a:solidFill>
              </a:defRPr>
            </a:pPr>
            <a:r>
              <a:rPr sz="1125" b="1">
                <a:solidFill>
                  <a:srgbClr val="17191C"/>
                </a:solidFill>
              </a:rPr>
              <a:t>embedding model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CFE7BA6-955E-4AC1-8A5C-9D408F26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772025"/>
            <a:ext cx="2381250" cy="542925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8E6E0"/>
          </a:solidFill>
          <a:ln xmlns:a="http://schemas.openxmlformats.org/drawingml/2006/main" w="9525">
            <a:solidFill>
              <a:srgbClr val="B26A1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B3BA23A-1FE5-4FEE-8F41-23CD58D7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57750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91C"/>
                </a:solidFill>
              </a:defRPr>
            </a:pPr>
            <a:r>
              <a:rPr sz="1125" b="1">
                <a:solidFill>
                  <a:srgbClr val="17191C"/>
                </a:solidFill>
              </a:rPr>
              <a:t>PostgreSQL pgvector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3BFB75-ED01-4C45-B423-B2A30A3B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D1836"/>
                </a:solidFill>
              </a:defRPr>
            </a:pPr>
            <a:r>
              <a:rPr sz="900" b="1">
                <a:solidFill>
                  <a:srgbClr val="9D1836"/>
                </a:solidFill>
              </a:rPr>
              <a:t>收益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090EFA1-7600-448D-B7C0-3D5FB217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578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91C"/>
                </a:solidFill>
              </a:defRPr>
            </a:pPr>
            <a:r>
              <a:rPr sz="1650" b="1">
                <a:solidFill>
                  <a:srgbClr val="17191C"/>
                </a:solidFill>
              </a:rPr>
              <a:t>测试可替换 · 本地开发可降级 · 外部服务变更不穿透业务层</a:t>
            </a:r>
          </a:p>
        </p:txBody>
      </p:sp>
    </p:spTree>
    <p:extLst>
      <p:ext uri="{BB962C8B-B14F-4D97-AF65-F5344CB8AC3E}">
        <p14:creationId xmlns:p14="http://schemas.microsoft.com/office/powerpoint/2010/main" val="7750274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C4B5D9-A646-4F26-A23F-05DB8134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18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865CFC-418E-488B-A655-B91C2D8D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A"/>
                </a:solidFill>
              </a:defRPr>
            </a:pPr>
            <a:r>
              <a:rPr sz="900" b="1">
                <a:solidFill>
                  <a:srgbClr val="68717A"/>
                </a:solidFill>
              </a:rPr>
              <a:t>ISSUESCOPE / FINAL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8247C-721D-4FD4-8224-6C4A5611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381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A"/>
                </a:solidFill>
              </a:defRPr>
            </a:pPr>
            <a:r>
              <a:rPr sz="900" b="1">
                <a:solidFill>
                  <a:srgbClr val="68717A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714F2-EDCC-4A89-AF12-5B2F15B5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D492B-E380-483E-9301-74DD9A66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7A"/>
                </a:solidFill>
              </a:defRPr>
            </a:pPr>
            <a:r>
              <a:rPr sz="750" b="0">
                <a:solidFill>
                  <a:srgbClr val="68717A"/>
                </a:solidFill>
              </a:rPr>
              <a:t>A8 · GitHub 仓库问答与 Issue 分析系统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9BC10E-7AA0-4403-80E8-E3AAEF0B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1836"/>
                </a:solidFill>
              </a:defRPr>
            </a:pPr>
            <a:r>
              <a:rPr sz="975" b="1">
                <a:solidFill>
                  <a:srgbClr val="9D1836"/>
                </a:solidFill>
              </a:rPr>
              <a:t>APPLIED GOF PATTERNS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D70D88-75C1-45AB-93D9-6D498918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67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91C"/>
                </a:solidFill>
              </a:defRPr>
            </a:pPr>
            <a:r>
              <a:rPr sz="2850" b="1">
                <a:solidFill>
                  <a:srgbClr val="17191C"/>
                </a:solidFill>
              </a:rPr>
              <a:t>设计模式用于控制变化，不是为了增加类的数量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B5A8CA-F6DA-4A0F-83D4-0454821A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策略模式处理分类路径，适配器模式隔离存储差异。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E2EB0B-2918-4876-9943-CF6F424F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812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1836"/>
                </a:solidFill>
              </a:defRPr>
            </a:pPr>
            <a:r>
              <a:rPr sz="975" b="1">
                <a:solidFill>
                  <a:srgbClr val="9D1836"/>
                </a:solidFill>
              </a:rPr>
              <a:t>STRATEGY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EC3738-690A-4909-A884-BB0BA7B6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860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91C"/>
                </a:solidFill>
              </a:defRPr>
            </a:pPr>
            <a:r>
              <a:rPr sz="1875" b="1">
                <a:solidFill>
                  <a:srgbClr val="17191C"/>
                </a:solidFill>
              </a:rPr>
              <a:t>Issue 分类策略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28F50B-7495-4123-977A-EDBB12A2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3905250" cy="72390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24F109-3705-4C47-B516-455A1C39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277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IssueClassifier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0B08DC-6B23-4690-8E43-77298D78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19475"/>
            <a:ext cx="352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BFC4C0"/>
                </a:solidFill>
              </a:defRPr>
            </a:pPr>
            <a:r>
              <a:rPr sz="975" b="0">
                <a:solidFill>
                  <a:srgbClr val="BFC4C0"/>
                </a:solidFill>
              </a:rPr>
              <a:t>classify / async_classify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B01678-3983-4B08-BA65-E1E9EC08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81425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18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CC852C-F333-46B1-986C-2CAF0FB0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1790700" cy="7429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1E2E6"/>
          </a:solidFill>
          <a:ln xmlns:a="http://schemas.openxmlformats.org/drawingml/2006/main" w="9525">
            <a:solidFill>
              <a:srgbClr val="9D183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DECBAC-4655-4E0F-92CC-7284F04B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D1836"/>
                </a:solidFill>
              </a:defRPr>
            </a:pPr>
            <a:r>
              <a:rPr sz="1350" b="1">
                <a:solidFill>
                  <a:srgbClr val="9D1836"/>
                </a:solidFill>
              </a:rPr>
              <a:t>规则策略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1B99AC-2452-45FE-804B-2269374F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17A"/>
                </a:solidFill>
              </a:defRPr>
            </a:pPr>
            <a:r>
              <a:rPr sz="1050" b="0">
                <a:solidFill>
                  <a:srgbClr val="68717A"/>
                </a:solidFill>
              </a:rPr>
              <a:t>快速、可解释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8E9D02-C62A-426E-AA64-56FCC71A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14800"/>
            <a:ext cx="1790700" cy="7429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9D183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4058F9-C201-4A63-821E-F1315CF2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100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91C"/>
                </a:solidFill>
              </a:defRPr>
            </a:pPr>
            <a:r>
              <a:rPr sz="1350" b="1">
                <a:solidFill>
                  <a:srgbClr val="17191C"/>
                </a:solidFill>
              </a:rPr>
              <a:t>LLM 兜底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E21A44-47BE-4523-B979-B5F617D1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49580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17A"/>
                </a:solidFill>
              </a:defRPr>
            </a:pPr>
            <a:r>
              <a:rPr sz="1050" b="0">
                <a:solidFill>
                  <a:srgbClr val="68717A"/>
                </a:solidFill>
              </a:rPr>
              <a:t>低置信度触发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1664AB-40C7-4C68-B64B-66EC27C2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8160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17A"/>
                </a:solidFill>
              </a:defRPr>
            </a:pPr>
            <a:r>
              <a:rPr sz="1200" b="0">
                <a:solidFill>
                  <a:srgbClr val="68717A"/>
                </a:solidFill>
              </a:rPr>
              <a:t>规则覆盖高频确定场景；难以判断时再切换到 LLM。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B5E8A1-5513-4569-911C-6AD16D08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114550"/>
            <a:ext cx="190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34C069-8E46-4038-AF41-3B9EE3C5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812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1D5"/>
                </a:solidFill>
              </a:defRPr>
            </a:pPr>
            <a:r>
              <a:rPr sz="975" b="1">
                <a:solidFill>
                  <a:srgbClr val="2F61D5"/>
                </a:solidFill>
              </a:rPr>
              <a:t>ADAPTER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B42554-E8F5-4859-8FCD-3B293C93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860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91C"/>
                </a:solidFill>
              </a:defRPr>
            </a:pPr>
            <a:r>
              <a:rPr sz="1875" b="1">
                <a:solidFill>
                  <a:srgbClr val="17191C"/>
                </a:solidFill>
              </a:rPr>
              <a:t>仓库存储适配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3A9FF0-FD72-42DD-8CDF-9402A2C7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48000"/>
            <a:ext cx="4572000" cy="72390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7D0CB0-E094-4572-9812-37F5CD44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5277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RepositoryStore contract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E69974-C15A-4956-81F8-B8C9DA34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1947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BFC4C0"/>
                </a:solidFill>
              </a:defRPr>
            </a:pPr>
            <a:r>
              <a:rPr sz="975" b="0">
                <a:solidFill>
                  <a:srgbClr val="BFC4C0"/>
                </a:solidFill>
              </a:rPr>
              <a:t>save / get / list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1B9F46-3908-4E5C-BA58-808EC428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781425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1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4129B0-553E-490F-96AB-F88B9C36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14800"/>
            <a:ext cx="2095500" cy="7429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7EDF9"/>
          </a:solidFill>
          <a:ln xmlns:a="http://schemas.openxmlformats.org/drawingml/2006/main" w="9525">
            <a:solidFill>
              <a:srgbClr val="2F61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CC7FC5-A63F-4CCD-8798-28AB9BDC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1005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61D5"/>
                </a:solidFill>
              </a:defRPr>
            </a:pPr>
            <a:r>
              <a:rPr sz="1200" b="1">
                <a:solidFill>
                  <a:srgbClr val="2F61D5"/>
                </a:solidFill>
              </a:rPr>
              <a:t>Memory Adapter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BA61F4-1D6C-4ACF-B1E6-D8A1AE74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958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17A"/>
                </a:solidFill>
              </a:defRPr>
            </a:pPr>
            <a:r>
              <a:rPr sz="1050" b="0">
                <a:solidFill>
                  <a:srgbClr val="68717A"/>
                </a:solidFill>
              </a:rPr>
              <a:t>快速本地运行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615A73-E625-4A26-85AE-AF030161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14800"/>
            <a:ext cx="2095500" cy="7429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2F61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F0FF0D-D068-432C-8B4B-3467A440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21005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91C"/>
                </a:solidFill>
              </a:defRPr>
            </a:pPr>
            <a:r>
              <a:rPr sz="1200" b="1">
                <a:solidFill>
                  <a:srgbClr val="17191C"/>
                </a:solidFill>
              </a:rPr>
              <a:t>Postgres Adapter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D10C07-67B3-4034-8279-07A9C09F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958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17A"/>
                </a:solidFill>
              </a:defRPr>
            </a:pPr>
            <a:r>
              <a:rPr sz="1050" b="0">
                <a:solidFill>
                  <a:srgbClr val="68717A"/>
                </a:solidFill>
              </a:rPr>
              <a:t>持久化与向量检索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1CD1B0-68CB-459A-81AD-0CE4A5C1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18160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17A"/>
                </a:solidFill>
              </a:defRPr>
            </a:pPr>
            <a:r>
              <a:rPr sz="1200" b="0">
                <a:solidFill>
                  <a:srgbClr val="68717A"/>
                </a:solidFill>
              </a:rPr>
              <a:t>上层流程不感知存储细节，切换实现只发生在工厂选择处。</a:t>
            </a:r>
          </a:p>
        </p:txBody>
      </p:sp>
    </p:spTree>
    <p:extLst>
      <p:ext uri="{BB962C8B-B14F-4D97-AF65-F5344CB8AC3E}">
        <p14:creationId xmlns:p14="http://schemas.microsoft.com/office/powerpoint/2010/main" val="14745051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2B9931-0B53-4957-93AC-04BC45EA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18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0570C-BCAB-4023-9C50-4F2A1A18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A"/>
                </a:solidFill>
              </a:defRPr>
            </a:pPr>
            <a:r>
              <a:rPr sz="900" b="1">
                <a:solidFill>
                  <a:srgbClr val="68717A"/>
                </a:solidFill>
              </a:rPr>
              <a:t>ISSUESCOPE / FINAL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D4DE0-48B9-4777-BE22-AFCC54EC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381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A"/>
                </a:solidFill>
              </a:defRPr>
            </a:pPr>
            <a:r>
              <a:rPr sz="900" b="1">
                <a:solidFill>
                  <a:srgbClr val="68717A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48C9D-0E56-4838-9D03-EF07F656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40847-9C42-4F16-A43F-D613931B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7A"/>
                </a:solidFill>
              </a:defRPr>
            </a:pPr>
            <a:r>
              <a:rPr sz="750" b="0">
                <a:solidFill>
                  <a:srgbClr val="68717A"/>
                </a:solidFill>
              </a:rPr>
              <a:t>A8 · GitHub 仓库问答与 Issue 分析系统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95953C-CD1F-464A-BCD3-FEB0A67B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1836"/>
                </a:solidFill>
              </a:defRPr>
            </a:pPr>
            <a:r>
              <a:rPr sz="975" b="1">
                <a:solidFill>
                  <a:srgbClr val="9D1836"/>
                </a:solidFill>
              </a:rPr>
              <a:t>KEY TECHNOLOGIES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B76538-6EF0-44F0-BE93-C2BA8CF9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67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91C"/>
                </a:solidFill>
              </a:defRPr>
            </a:pPr>
            <a:r>
              <a:rPr sz="2850" b="1">
                <a:solidFill>
                  <a:srgbClr val="17191C"/>
                </a:solidFill>
              </a:rPr>
              <a:t>技术选型围绕三个目标：可交互、可替换、可检索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83B41-77DE-442B-B1E7-A1607B92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每一层只承担明确职责，避免把模型、数据库和界面逻辑混在一起。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AF7D5D-EACE-4457-AE8A-9B8AEC5E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1D5"/>
                </a:solidFill>
              </a:defRPr>
            </a:pPr>
            <a:r>
              <a:rPr sz="1800" b="1">
                <a:solidFill>
                  <a:srgbClr val="2F61D5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F10580-AB94-4DF1-996B-B9141EAE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1455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91C"/>
                </a:solidFill>
              </a:defRPr>
            </a:pPr>
            <a:r>
              <a:rPr sz="1800" b="1">
                <a:solidFill>
                  <a:srgbClr val="17191C"/>
                </a:solidFill>
              </a:rPr>
              <a:t>交互与可视化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7660C4-FDF2-4C74-921C-6E7E7AE9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05025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91C"/>
                </a:solidFill>
              </a:defRPr>
            </a:pPr>
            <a:r>
              <a:rPr sz="1350" b="1">
                <a:solidFill>
                  <a:srgbClr val="17191C"/>
                </a:solidFill>
              </a:rPr>
              <a:t>React 19 · TypeScript · Vite · XYFlow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B28ECC-726B-4978-B87E-AE6E57B6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05025"/>
            <a:ext cx="2781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17A"/>
                </a:solidFill>
              </a:defRPr>
            </a:pPr>
            <a:r>
              <a:rPr sz="1200" b="0">
                <a:solidFill>
                  <a:srgbClr val="68717A"/>
                </a:solidFill>
              </a:rPr>
              <a:t>负责工作台、Agent 侧栏和可交互架构图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AE129C-541D-4439-A769-F1A5C639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2417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51BB90-D22C-4B07-A575-22B7A91C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4327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D1836"/>
                </a:solidFill>
              </a:defRPr>
            </a:pPr>
            <a:r>
              <a:rPr sz="1800" b="1">
                <a:solidFill>
                  <a:srgbClr val="9D1836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4F64EA-ADDE-401A-B2AA-D6F7760A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147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91C"/>
                </a:solidFill>
              </a:defRPr>
            </a:pPr>
            <a:r>
              <a:rPr sz="1800" b="1">
                <a:solidFill>
                  <a:srgbClr val="17191C"/>
                </a:solidFill>
              </a:rPr>
              <a:t>应用与集成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1B4C1C-579D-4F2B-A89F-98CEE8C5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305175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91C"/>
                </a:solidFill>
              </a:defRPr>
            </a:pPr>
            <a:r>
              <a:rPr sz="1350" b="1">
                <a:solidFill>
                  <a:srgbClr val="17191C"/>
                </a:solidFill>
              </a:rPr>
              <a:t>Python 3.12 · FastAPI · Pydantic · HTTPX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1CDF4F-30F2-427B-AC94-DD06F84E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05175"/>
            <a:ext cx="2781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17A"/>
                </a:solidFill>
              </a:defRPr>
            </a:pPr>
            <a:r>
              <a:rPr sz="1200" b="0">
                <a:solidFill>
                  <a:srgbClr val="68717A"/>
                </a:solidFill>
              </a:rPr>
              <a:t>负责 API、仓库同步、Webhook、工具调用和服务编排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6B9FA1-2E79-49FF-87D4-2FD8293B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243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31D6D4-891D-488E-B656-74207C1E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4342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7B55"/>
                </a:solidFill>
              </a:defRPr>
            </a:pPr>
            <a:r>
              <a:rPr sz="1800" b="1">
                <a:solidFill>
                  <a:srgbClr val="147B55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A93FD9-57F8-46AE-ACCF-36AD7386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91C"/>
                </a:solidFill>
              </a:defRPr>
            </a:pPr>
            <a:r>
              <a:rPr sz="1800" b="1">
                <a:solidFill>
                  <a:srgbClr val="17191C"/>
                </a:solidFill>
              </a:rPr>
              <a:t>持久化与检索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2D3223-631D-4DBE-BD7F-8F921B3D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505325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91C"/>
                </a:solidFill>
              </a:defRPr>
            </a:pPr>
            <a:r>
              <a:rPr sz="1350" b="1">
                <a:solidFill>
                  <a:srgbClr val="17191C"/>
                </a:solidFill>
              </a:rPr>
              <a:t>PostgreSQL 16 · pgvector · SQLAlchemy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E08138-2CE2-4FC1-B4FB-4F3D5125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505325"/>
            <a:ext cx="2781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17A"/>
                </a:solidFill>
              </a:defRPr>
            </a:pPr>
            <a:r>
              <a:rPr sz="1200" b="0">
                <a:solidFill>
                  <a:srgbClr val="68717A"/>
                </a:solidFill>
              </a:rPr>
              <a:t>保存仓库快照、结构化表、知识图谱与向量片段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9822D7-E4D5-410A-8213-DE00F4E9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1085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F432C7-8536-406B-B081-CDAC4185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7245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EC3BF"/>
                </a:solidFill>
              </a:defRPr>
            </a:pPr>
            <a:r>
              <a:rPr sz="900" b="1">
                <a:solidFill>
                  <a:srgbClr val="BEC3BF"/>
                </a:solidFill>
              </a:rPr>
              <a:t>工程管理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B469CE-83D4-49BF-A05E-A4AD7833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69595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后端 uv 管理依赖，前端 npm 管理构建；配置通过环境变量注入。</a:t>
            </a:r>
          </a:p>
        </p:txBody>
      </p:sp>
    </p:spTree>
    <p:extLst>
      <p:ext uri="{BB962C8B-B14F-4D97-AF65-F5344CB8AC3E}">
        <p14:creationId xmlns:p14="http://schemas.microsoft.com/office/powerpoint/2010/main" val="12038613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ABD839-D922-46D3-B6F4-211F292F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18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4F6B5B-DBF9-4B04-B751-8DB85340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A"/>
                </a:solidFill>
              </a:defRPr>
            </a:pPr>
            <a:r>
              <a:rPr sz="900" b="1">
                <a:solidFill>
                  <a:srgbClr val="68717A"/>
                </a:solidFill>
              </a:rPr>
              <a:t>ISSUESCOPE / FINAL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C0D125-F66D-4532-B901-48834550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381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A"/>
                </a:solidFill>
              </a:defRPr>
            </a:pPr>
            <a:r>
              <a:rPr sz="900" b="1">
                <a:solidFill>
                  <a:srgbClr val="68717A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61E12-75C2-4A07-894E-09E4EC8D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6E839F-B83C-48B7-847F-7DF34309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7A"/>
                </a:solidFill>
              </a:defRPr>
            </a:pPr>
            <a:r>
              <a:rPr sz="750" b="0">
                <a:solidFill>
                  <a:srgbClr val="68717A"/>
                </a:solidFill>
              </a:rPr>
              <a:t>A8 · GitHub 仓库问答与 Issue 分析系统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FDD84-2454-4431-BE73-D210DCBD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1836"/>
                </a:solidFill>
              </a:defRPr>
            </a:pPr>
            <a:r>
              <a:rPr sz="975" b="1">
                <a:solidFill>
                  <a:srgbClr val="9D1836"/>
                </a:solidFill>
              </a:rPr>
              <a:t>TYPICAL SCENARIO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C7A3DA-483A-45F2-A7D6-AAC0AF65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67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91C"/>
                </a:solidFill>
              </a:defRPr>
            </a:pPr>
            <a:r>
              <a:rPr sz="2850" b="1">
                <a:solidFill>
                  <a:srgbClr val="17191C"/>
                </a:solidFill>
              </a:rPr>
              <a:t>一个新成员如何在几分钟内理解陌生仓库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D5E46-5CD8-4063-BDF1-63D47266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问题不是“让模型解释一切”，而是把问题拆成可验证的仓库查询。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DD8534-B9B6-41C1-882C-A35115BA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43125"/>
            <a:ext cx="4191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E34EA8-4C45-4DCA-85AF-05292B33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81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BDB9"/>
                </a:solidFill>
              </a:defRPr>
            </a:pPr>
            <a:r>
              <a:rPr sz="900" b="1">
                <a:solidFill>
                  <a:srgbClr val="B8BDB9"/>
                </a:solidFill>
              </a:rPr>
              <a:t>QUESTION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5020AB-2EC2-4A00-B327-3980B78D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3429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“这个项目的入口在哪？</a:t>
            </a:r>
          </a:p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测试应该怎么运行？”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BB74F0-1809-4B08-B044-6586CDD9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1482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18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7B3A10-B4D7-4948-A64E-BA135513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CBC8"/>
                </a:solidFill>
              </a:defRPr>
            </a:pPr>
            <a:r>
              <a:rPr sz="1275" b="1">
                <a:solidFill>
                  <a:srgbClr val="C7CBC8"/>
                </a:solidFill>
              </a:rPr>
              <a:t>Repository 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18D39F-94BA-4B75-9EA0-61826A9E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47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1D5"/>
          </a:solidFill>
          <a:ln xmlns:a="http://schemas.openxmlformats.org/drawingml/2006/main" w="9525">
            <a:solidFill>
              <a:srgbClr val="2F61D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8C5EC5-FE42-4D8B-A6FC-42A7F45A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2885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1C"/>
                </a:solidFill>
              </a:defRPr>
            </a:pPr>
            <a:r>
              <a:rPr sz="1575" b="1">
                <a:solidFill>
                  <a:srgbClr val="17191C"/>
                </a:solidFill>
              </a:rPr>
              <a:t>结构工具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9D7B61-C2E5-4AF3-88A9-2D6AADBB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43175"/>
            <a:ext cx="481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A"/>
                </a:solidFill>
              </a:defRPr>
            </a:pPr>
            <a:r>
              <a:rPr sz="1275" b="0">
                <a:solidFill>
                  <a:srgbClr val="68717A"/>
                </a:solidFill>
              </a:rPr>
              <a:t>识别入口候选与主要目录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1B67F8-D3D5-4A4F-A9FB-4CE12051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09850"/>
            <a:ext cx="19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9433E3-7304-4BB5-A6E0-9613243C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147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1D5"/>
          </a:solidFill>
          <a:ln xmlns:a="http://schemas.openxmlformats.org/drawingml/2006/main" w="9525">
            <a:solidFill>
              <a:srgbClr val="2F61D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B6AEF0-7D2C-4C6B-B977-74079D47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29565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1C"/>
                </a:solidFill>
              </a:defRPr>
            </a:pPr>
            <a:r>
              <a:rPr sz="1575" b="1">
                <a:solidFill>
                  <a:srgbClr val="17191C"/>
                </a:solidFill>
              </a:rPr>
              <a:t>README / 文件工具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B96F0A-C067-458A-BB98-674DCA83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609975"/>
            <a:ext cx="481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A"/>
                </a:solidFill>
              </a:defRPr>
            </a:pPr>
            <a:r>
              <a:rPr sz="1275" b="0">
                <a:solidFill>
                  <a:srgbClr val="68717A"/>
                </a:solidFill>
              </a:rPr>
              <a:t>读取启动命令和测试配置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225910-25D6-4EA9-9D8B-51C4A6FC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76650"/>
            <a:ext cx="19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266231-BB2E-4EBD-BA80-573CFB74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B55"/>
          </a:solidFill>
          <a:ln xmlns:a="http://schemas.openxmlformats.org/drawingml/2006/main" w="9525">
            <a:solidFill>
              <a:srgbClr val="147B5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C7B887-680D-434D-B53D-E67BDB8D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36245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1C"/>
                </a:solidFill>
              </a:defRPr>
            </a:pPr>
            <a:r>
              <a:rPr sz="1575" b="1">
                <a:solidFill>
                  <a:srgbClr val="17191C"/>
                </a:solidFill>
              </a:rPr>
              <a:t>引用返回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5151B4-6661-4BF7-873F-E8938AE2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676775"/>
            <a:ext cx="481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A"/>
                </a:solidFill>
              </a:defRPr>
            </a:pPr>
            <a:r>
              <a:rPr sz="1275" b="0">
                <a:solidFill>
                  <a:srgbClr val="68717A"/>
                </a:solidFill>
              </a:rPr>
              <a:t>附具体路径，开发者可以立即复核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7D48EC-3B88-404E-B085-AF2BC85C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429250"/>
            <a:ext cx="6057900" cy="6667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4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74B0FE-54C3-4381-9D56-9DA16306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553075"/>
            <a:ext cx="558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7B55"/>
                </a:solidFill>
              </a:defRPr>
            </a:pPr>
            <a:r>
              <a:rPr sz="1500" b="1">
                <a:solidFill>
                  <a:srgbClr val="147B55"/>
                </a:solidFill>
              </a:rPr>
              <a:t>结果：回答更快，但每个关键结论仍然能回到真实文件。</a:t>
            </a:r>
          </a:p>
        </p:txBody>
      </p:sp>
    </p:spTree>
    <p:extLst>
      <p:ext uri="{BB962C8B-B14F-4D97-AF65-F5344CB8AC3E}">
        <p14:creationId xmlns:p14="http://schemas.microsoft.com/office/powerpoint/2010/main" val="9493589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15D1E7-EDAE-4E70-B461-92D4A13B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18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43B35-6BA4-442A-8AC2-B26EB935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A"/>
                </a:solidFill>
              </a:defRPr>
            </a:pPr>
            <a:r>
              <a:rPr sz="900" b="1">
                <a:solidFill>
                  <a:srgbClr val="68717A"/>
                </a:solidFill>
              </a:rPr>
              <a:t>ISSUESCOPE / FINAL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99BE4-C7FF-43E3-A954-08CF3878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381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A"/>
                </a:solidFill>
              </a:defRPr>
            </a:pPr>
            <a:r>
              <a:rPr sz="900" b="1">
                <a:solidFill>
                  <a:srgbClr val="68717A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F5BEC-EA6C-4BFE-918F-7811BABF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DDA58-B922-4A18-B461-F0339528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7A"/>
                </a:solidFill>
              </a:defRPr>
            </a:pPr>
            <a:r>
              <a:rPr sz="750" b="0">
                <a:solidFill>
                  <a:srgbClr val="68717A"/>
                </a:solidFill>
              </a:rPr>
              <a:t>A8 · GitHub 仓库问答与 Issue 分析系统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62FB81-15FA-49C1-9B9D-48D2E673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1836"/>
                </a:solidFill>
              </a:defRPr>
            </a:pPr>
            <a:r>
              <a:rPr sz="975" b="1">
                <a:solidFill>
                  <a:srgbClr val="9D1836"/>
                </a:solidFill>
              </a:rPr>
              <a:t>TESTING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27E853-2DB4-4402-9B18-E05532B7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67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91C"/>
                </a:solidFill>
              </a:defRPr>
            </a:pPr>
            <a:r>
              <a:rPr sz="2850" b="1">
                <a:solidFill>
                  <a:srgbClr val="17191C"/>
                </a:solidFill>
              </a:rPr>
              <a:t>测试结果全部通过，关键分类模块覆盖率超过要求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4BD0CD-FFF6-449E-B9CA-A050EA7B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单元测试验证分支逻辑，系统测试覆盖基本流、备选流、易用性与浏览器兼容场景。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574BB8-0AB3-451B-95C4-C2442E03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9D1836"/>
                </a:solidFill>
              </a:defRPr>
            </a:pPr>
            <a:r>
              <a:rPr sz="3225" b="1">
                <a:solidFill>
                  <a:srgbClr val="9D1836"/>
                </a:solidFill>
              </a:rPr>
              <a:t>16 / 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B1B19C-71E8-48F8-8603-721BF746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2324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18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8F1A8F-1B43-41BF-BB9D-11E37A68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91C"/>
                </a:solidFill>
              </a:defRPr>
            </a:pPr>
            <a:r>
              <a:rPr sz="1350" b="1">
                <a:solidFill>
                  <a:srgbClr val="17191C"/>
                </a:solidFill>
              </a:rPr>
              <a:t>分类器单元测试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161687-8E21-4B9A-8E52-009B6280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193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F61D5"/>
                </a:solidFill>
              </a:defRPr>
            </a:pPr>
            <a:r>
              <a:rPr sz="3225" b="1">
                <a:solidFill>
                  <a:srgbClr val="2F61D5"/>
                </a:solidFill>
              </a:rPr>
              <a:t>98.72%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CCEFAC-7B5A-46FB-AF30-9C557BA9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81350"/>
            <a:ext cx="2324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1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B9653D-EACA-40BA-A2A4-87FD71DC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337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91C"/>
                </a:solidFill>
              </a:defRPr>
            </a:pPr>
            <a:r>
              <a:rPr sz="1350" b="1">
                <a:solidFill>
                  <a:srgbClr val="17191C"/>
                </a:solidFill>
              </a:rPr>
              <a:t>语句覆盖率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E139D9-5EDC-43D5-B108-1E5B5F5F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7B55"/>
                </a:solidFill>
              </a:defRPr>
            </a:pPr>
            <a:r>
              <a:rPr sz="3225" b="1">
                <a:solidFill>
                  <a:srgbClr val="147B55"/>
                </a:solidFill>
              </a:rPr>
              <a:t>37 / 37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2894A3-E91B-432D-B2D5-9B704740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81350"/>
            <a:ext cx="2324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FCB361-4BAB-4A99-BFA0-F7D78053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91C"/>
                </a:solidFill>
              </a:defRPr>
            </a:pPr>
            <a:r>
              <a:rPr sz="1350" b="1">
                <a:solidFill>
                  <a:srgbClr val="17191C"/>
                </a:solidFill>
              </a:rPr>
              <a:t>系统测试用例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6E848C-9E5D-480C-9194-974826F2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193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191C"/>
                </a:solidFill>
              </a:defRPr>
            </a:pPr>
            <a:r>
              <a:rPr sz="3225" b="1">
                <a:solidFill>
                  <a:srgbClr val="17191C"/>
                </a:solidFill>
              </a:rPr>
              <a:t>100%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1C03FE-EE24-4096-BC8F-2F58BE51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81350"/>
            <a:ext cx="2324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FEA911-D57A-4AC3-BCAE-1FE3F9B1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337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91C"/>
                </a:solidFill>
              </a:defRPr>
            </a:pPr>
            <a:r>
              <a:rPr sz="1350" b="1">
                <a:solidFill>
                  <a:srgbClr val="17191C"/>
                </a:solidFill>
              </a:rPr>
              <a:t>本轮测试通过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B57A22-23F4-4D1B-955D-7AADC0FA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71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17A"/>
                </a:solidFill>
              </a:defRPr>
            </a:pPr>
            <a:r>
              <a:rPr sz="975" b="1">
                <a:solidFill>
                  <a:srgbClr val="68717A"/>
                </a:solidFill>
              </a:rPr>
              <a:t>覆盖率门槛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AA055E-5572-4878-9FEB-AF1D4C47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91050"/>
            <a:ext cx="108585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6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AD69C4-11D0-421B-9CA3-3597BE5D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91050"/>
            <a:ext cx="1071562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18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E748B8-4287-4D9F-A095-D5E709E8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7A"/>
                </a:solidFill>
              </a:defRPr>
            </a:pPr>
            <a:r>
              <a:rPr sz="1050" b="0">
                <a:solidFill>
                  <a:srgbClr val="68717A"/>
                </a:solidFill>
              </a:rPr>
              <a:t>90% 要求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446056-2B14-40C7-82BB-6D646487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9149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D1836"/>
                </a:solidFill>
              </a:defRPr>
            </a:pPr>
            <a:r>
              <a:rPr sz="1050" b="1">
                <a:solidFill>
                  <a:srgbClr val="9D1836"/>
                </a:solidFill>
              </a:rPr>
              <a:t>98.72% 实测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704FAF-AFCC-4EB8-81D6-17A4676F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86400"/>
            <a:ext cx="1085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CED1C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D12FB8-2BDA-46DD-ACB8-9E3FC834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72125"/>
            <a:ext cx="1032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91C"/>
                </a:solidFill>
              </a:defRPr>
            </a:pPr>
            <a:r>
              <a:rPr sz="1425" b="1">
                <a:solidFill>
                  <a:srgbClr val="17191C"/>
                </a:solidFill>
              </a:rPr>
              <a:t>同时执行前端 lint / build，并保留 JUnit、HTML 和 XML 测试报告。</a:t>
            </a:r>
          </a:p>
        </p:txBody>
      </p:sp>
    </p:spTree>
    <p:extLst>
      <p:ext uri="{BB962C8B-B14F-4D97-AF65-F5344CB8AC3E}">
        <p14:creationId xmlns:p14="http://schemas.microsoft.com/office/powerpoint/2010/main" val="2642756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C8C194-18F9-470B-ACB0-2874BF54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18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5F3E48-EC09-4D1B-9AA6-D64EDC8C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A"/>
                </a:solidFill>
              </a:defRPr>
            </a:pPr>
            <a:r>
              <a:rPr sz="900" b="1">
                <a:solidFill>
                  <a:srgbClr val="68717A"/>
                </a:solidFill>
              </a:rPr>
              <a:t>ISSUESCOPE / FINAL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57225-E0B8-48C8-8514-DF6E1D56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381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A"/>
                </a:solidFill>
              </a:defRPr>
            </a:pPr>
            <a:r>
              <a:rPr sz="900" b="1">
                <a:solidFill>
                  <a:srgbClr val="68717A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2E730-7CD8-4F96-A806-575A3D94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441CFD-6D74-4778-8297-9DD08983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7A"/>
                </a:solidFill>
              </a:defRPr>
            </a:pPr>
            <a:r>
              <a:rPr sz="750" b="0">
                <a:solidFill>
                  <a:srgbClr val="68717A"/>
                </a:solidFill>
              </a:rPr>
              <a:t>A8 · GitHub 仓库问答与 Issue 分析系统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71B4A-41F7-4D9A-A7EE-024C2DC2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1836"/>
                </a:solidFill>
              </a:defRPr>
            </a:pPr>
            <a:r>
              <a:rPr sz="975" b="1">
                <a:solidFill>
                  <a:srgbClr val="9D1836"/>
                </a:solidFill>
              </a:rPr>
              <a:t>QUALITY ASSURANCE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75E64-036A-40F2-8608-FA1F9E04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67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91C"/>
                </a:solidFill>
              </a:defRPr>
            </a:pPr>
            <a:r>
              <a:rPr sz="2850" b="1">
                <a:solidFill>
                  <a:srgbClr val="17191C"/>
                </a:solidFill>
              </a:rPr>
              <a:t>我们用四道检查避免“只在演示时能跑”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A6DF7-ED09-4113-AC32-9C414A0A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测试覆盖代码、接口、真实依赖与用户路径，不把模拟结果当成全部结论。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A2C303-B25E-4D1F-8241-340C72F6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0275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D1836"/>
                </a:solidFill>
              </a:defRPr>
            </a:pPr>
            <a:r>
              <a:rPr sz="900" b="1">
                <a:solidFill>
                  <a:srgbClr val="9D1836"/>
                </a:solidFill>
              </a:rPr>
              <a:t>GATE 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595B3E-CE66-4260-B224-103470AA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17170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91C"/>
                </a:solidFill>
              </a:defRPr>
            </a:pPr>
            <a:r>
              <a:rPr sz="1800" b="1">
                <a:solidFill>
                  <a:srgbClr val="17191C"/>
                </a:solidFill>
              </a:rPr>
              <a:t>单元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046B5F-0903-46CA-9989-F5DE4D1F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43150"/>
            <a:ext cx="895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18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8FE50D-5580-4654-A87B-D6527447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52650"/>
            <a:ext cx="657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规则边界、异常分支、LLM 兜底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6B0806-CE78-4258-9182-26FFE845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18122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47B55"/>
                </a:solidFill>
              </a:defRPr>
            </a:pPr>
            <a:r>
              <a:rPr sz="900" b="1">
                <a:solidFill>
                  <a:srgbClr val="147B55"/>
                </a:solidFill>
              </a:rPr>
              <a:t>PASS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0C141B-F9ED-46A8-B241-B21570A6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76575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1D5"/>
                </a:solidFill>
              </a:defRPr>
            </a:pPr>
            <a:r>
              <a:rPr sz="900" b="1">
                <a:solidFill>
                  <a:srgbClr val="2F61D5"/>
                </a:solidFill>
              </a:rPr>
              <a:t>GATE 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9F5D3B-CD22-46BC-8BB3-4E7018DD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04800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91C"/>
                </a:solidFill>
              </a:defRPr>
            </a:pPr>
            <a:r>
              <a:rPr sz="1800" b="1">
                <a:solidFill>
                  <a:srgbClr val="17191C"/>
                </a:solidFill>
              </a:rPr>
              <a:t>接口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48A31B-C69C-45BB-85F1-D900AEC7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19450"/>
            <a:ext cx="895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1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387E8A-DC2F-4E33-B2E9-DA327A40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28950"/>
            <a:ext cx="657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API 响应、Webhook、工具调用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99EDA3-35C7-4CDD-8F4B-1777CB53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05752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47B55"/>
                </a:solidFill>
              </a:defRPr>
            </a:pPr>
            <a:r>
              <a:rPr sz="900" b="1">
                <a:solidFill>
                  <a:srgbClr val="147B55"/>
                </a:solidFill>
              </a:rPr>
              <a:t>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D80852-2E14-406D-B9D3-20E53814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52875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B55"/>
                </a:solidFill>
              </a:defRPr>
            </a:pPr>
            <a:r>
              <a:rPr sz="900" b="1">
                <a:solidFill>
                  <a:srgbClr val="147B55"/>
                </a:solidFill>
              </a:rPr>
              <a:t>GATE 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897101-A1EC-43E1-9AD9-99C76F3A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92430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91C"/>
                </a:solidFill>
              </a:defRPr>
            </a:pPr>
            <a:r>
              <a:rPr sz="1800" b="1">
                <a:solidFill>
                  <a:srgbClr val="17191C"/>
                </a:solidFill>
              </a:rPr>
              <a:t>集成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1BD48A-B282-4B82-9146-E56F8A1F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95750"/>
            <a:ext cx="895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082F29-03EE-428F-B08D-15495491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05250"/>
            <a:ext cx="657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PostgreSQL、pgvector、GitHub 与模型配置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EDDAFC-780A-4544-8B83-3AECF5C1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93382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47B55"/>
                </a:solidFill>
              </a:defRPr>
            </a:pPr>
            <a:r>
              <a:rPr sz="900" b="1">
                <a:solidFill>
                  <a:srgbClr val="147B55"/>
                </a:solidFill>
              </a:rPr>
              <a:t>PASS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25ED3E-64E4-475A-9F06-9D34AB56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29175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191C"/>
                </a:solidFill>
              </a:defRPr>
            </a:pPr>
            <a:r>
              <a:rPr sz="900" b="1">
                <a:solidFill>
                  <a:srgbClr val="17191C"/>
                </a:solidFill>
              </a:rPr>
              <a:t>GATE 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61380-C6EE-4493-96E0-4E62C0D2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0060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91C"/>
                </a:solidFill>
              </a:defRPr>
            </a:pPr>
            <a:r>
              <a:rPr sz="1800" b="1">
                <a:solidFill>
                  <a:srgbClr val="17191C"/>
                </a:solidFill>
              </a:rPr>
              <a:t>系统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A5A7CE-1377-486D-962F-4C5AA08E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72050"/>
            <a:ext cx="895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5AA814-D1CD-483C-A596-B187CA91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81550"/>
            <a:ext cx="657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功能流、备选流、易用性、浏览器兼容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AF5965-ABF0-446D-A68F-258180BB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81012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47B55"/>
                </a:solidFill>
              </a:defRPr>
            </a:pPr>
            <a:r>
              <a:rPr sz="900" b="1">
                <a:solidFill>
                  <a:srgbClr val="147B55"/>
                </a:solidFill>
              </a:rPr>
              <a:t>PASS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50B430-4EA2-4BB8-90B5-AA1DD22E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085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B55"/>
          </a:solidFill>
          <a:ln xmlns:a="http://schemas.openxmlformats.org/drawingml/2006/main" w="9525">
            <a:solidFill>
              <a:srgbClr val="147B5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C38435-ED9B-48A3-9DD8-E4AE5E60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977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失败会阻断提交或报告生成，问题修复后再重新执行完整检查。</a:t>
            </a:r>
          </a:p>
        </p:txBody>
      </p:sp>
    </p:spTree>
    <p:extLst>
      <p:ext uri="{BB962C8B-B14F-4D97-AF65-F5344CB8AC3E}">
        <p14:creationId xmlns:p14="http://schemas.microsoft.com/office/powerpoint/2010/main" val="1596217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31B394-FF15-4560-A286-AFB7172A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18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B8F6DA-62B1-4347-BB8A-E3C0C44A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A"/>
                </a:solidFill>
              </a:defRPr>
            </a:pPr>
            <a:r>
              <a:rPr sz="900" b="1">
                <a:solidFill>
                  <a:srgbClr val="68717A"/>
                </a:solidFill>
              </a:rPr>
              <a:t>ISSUESCOPE / FINAL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5775B4-5948-4215-A7D5-25612672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381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A"/>
                </a:solidFill>
              </a:defRPr>
            </a:pPr>
            <a:r>
              <a:rPr sz="900" b="1">
                <a:solidFill>
                  <a:srgbClr val="68717A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F14577-7D6A-47BB-9BFB-A1213D99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A3562-BDB0-44BF-AF76-DB3C4458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7A"/>
                </a:solidFill>
              </a:defRPr>
            </a:pPr>
            <a:r>
              <a:rPr sz="750" b="0">
                <a:solidFill>
                  <a:srgbClr val="68717A"/>
                </a:solidFill>
              </a:rPr>
              <a:t>A8 · GitHub 仓库问答与 Issue 分析系统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0CADD-ABFA-422F-86BB-FA0671FD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1836"/>
                </a:solidFill>
              </a:defRPr>
            </a:pPr>
            <a:r>
              <a:rPr sz="975" b="1">
                <a:solidFill>
                  <a:srgbClr val="9D1836"/>
                </a:solidFill>
              </a:rPr>
              <a:t>PROJECT MANAGEMENT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4C8920-E499-43B0-A28B-9DED4C70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67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91C"/>
                </a:solidFill>
              </a:defRPr>
            </a:pPr>
            <a:r>
              <a:rPr sz="2850" b="1">
                <a:solidFill>
                  <a:srgbClr val="17191C"/>
                </a:solidFill>
              </a:rPr>
              <a:t>三次迭代逐步把“能看”推进到“能跑、能验收”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ECDF1-5F40-46B8-A720-568ECE4C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近期任务拆成 1–2 天，远期任务保持粗粒度，并随评审结果滚动细化。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50776-233F-4D10-9867-9C20B6F7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33750"/>
            <a:ext cx="9944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715F7C-5869-42AE-8212-BC62E000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05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1836"/>
          </a:solidFill>
          <a:ln xmlns:a="http://schemas.openxmlformats.org/drawingml/2006/main" w="9525">
            <a:solidFill>
              <a:srgbClr val="9D183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C237E7-F44F-4123-B983-FFD19B02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8576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91C"/>
                </a:solidFill>
              </a:defRPr>
            </a:pPr>
            <a:r>
              <a:rPr sz="2025" b="1">
                <a:solidFill>
                  <a:srgbClr val="17191C"/>
                </a:solidFill>
              </a:rPr>
              <a:t>界面原型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991F52-1744-4838-94E1-97389678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391025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A"/>
                </a:solidFill>
              </a:defRPr>
            </a:pPr>
            <a:r>
              <a:rPr sz="1275" b="0">
                <a:solidFill>
                  <a:srgbClr val="68717A"/>
                </a:solidFill>
              </a:rPr>
              <a:t>明确范围</a:t>
            </a:r>
          </a:p>
          <a:p xmlns:a="http://schemas.openxmlformats.org/drawingml/2006/main">
            <a:pPr algn="l">
              <a:defRPr sz="1275" b="0">
                <a:solidFill>
                  <a:srgbClr val="68717A"/>
                </a:solidFill>
              </a:defRPr>
            </a:pPr>
            <a:r>
              <a:rPr sz="1275" b="0">
                <a:solidFill>
                  <a:srgbClr val="68717A"/>
                </a:solidFill>
              </a:rPr>
              <a:t>完成核心页面</a:t>
            </a:r>
          </a:p>
          <a:p xmlns:a="http://schemas.openxmlformats.org/drawingml/2006/main">
            <a:pPr algn="l">
              <a:defRPr sz="1275" b="0">
                <a:solidFill>
                  <a:srgbClr val="68717A"/>
                </a:solidFill>
              </a:defRPr>
            </a:pPr>
            <a:r>
              <a:rPr sz="1275" b="0">
                <a:solidFill>
                  <a:srgbClr val="68717A"/>
                </a:solidFill>
              </a:rPr>
              <a:t>验证交互路径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43E75A-3888-447C-AC4A-A8421447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4292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6E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8717A"/>
                </a:solidFill>
              </a:defRPr>
            </a:pPr>
            <a:r>
              <a:rPr sz="1125" b="1">
                <a:solidFill>
                  <a:srgbClr val="68717A"/>
                </a:solidFill>
              </a:rPr>
              <a:t>已完成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08D2FB-5FE4-4310-93BF-703D01D4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05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1D5"/>
          </a:solidFill>
          <a:ln xmlns:a="http://schemas.openxmlformats.org/drawingml/2006/main" w="9525">
            <a:solidFill>
              <a:srgbClr val="2F61D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EEE953-07DC-4EBC-88AB-B6B0F2AC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576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91C"/>
                </a:solidFill>
              </a:defRPr>
            </a:pPr>
            <a:r>
              <a:rPr sz="2025" b="1">
                <a:solidFill>
                  <a:srgbClr val="17191C"/>
                </a:solidFill>
              </a:rPr>
              <a:t>技术原型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3AC607-37EA-4582-B2C9-7939CEDB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91025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A"/>
                </a:solidFill>
              </a:defRPr>
            </a:pPr>
            <a:r>
              <a:rPr sz="1275" b="0">
                <a:solidFill>
                  <a:srgbClr val="68717A"/>
                </a:solidFill>
              </a:rPr>
              <a:t>搭建架构</a:t>
            </a:r>
          </a:p>
          <a:p xmlns:a="http://schemas.openxmlformats.org/drawingml/2006/main">
            <a:pPr algn="l">
              <a:defRPr sz="1275" b="0">
                <a:solidFill>
                  <a:srgbClr val="68717A"/>
                </a:solidFill>
              </a:defRPr>
            </a:pPr>
            <a:r>
              <a:rPr sz="1275" b="0">
                <a:solidFill>
                  <a:srgbClr val="68717A"/>
                </a:solidFill>
              </a:rPr>
              <a:t>跑通典型用例</a:t>
            </a:r>
          </a:p>
          <a:p xmlns:a="http://schemas.openxmlformats.org/drawingml/2006/main">
            <a:pPr algn="l">
              <a:defRPr sz="1275" b="0">
                <a:solidFill>
                  <a:srgbClr val="68717A"/>
                </a:solidFill>
              </a:defRPr>
            </a:pPr>
            <a:r>
              <a:rPr sz="1275" b="0">
                <a:solidFill>
                  <a:srgbClr val="68717A"/>
                </a:solidFill>
              </a:rPr>
              <a:t>补齐接口与测试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48D4E3-0ABC-4911-AA19-95C8F3EC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4292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6E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8717A"/>
                </a:solidFill>
              </a:defRPr>
            </a:pPr>
            <a:r>
              <a:rPr sz="1125" b="1">
                <a:solidFill>
                  <a:srgbClr val="68717A"/>
                </a:solidFill>
              </a:rPr>
              <a:t>已完成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0ADF19-0BB6-4416-8402-E74DA0D2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05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B55"/>
          </a:solidFill>
          <a:ln xmlns:a="http://schemas.openxmlformats.org/drawingml/2006/main" w="9525">
            <a:solidFill>
              <a:srgbClr val="147B5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4DD4C9-8951-4170-8B40-CC513CA3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8576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91C"/>
                </a:solidFill>
              </a:defRPr>
            </a:pPr>
            <a:r>
              <a:rPr sz="2025" b="1">
                <a:solidFill>
                  <a:srgbClr val="17191C"/>
                </a:solidFill>
              </a:rPr>
              <a:t>构造迭代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D55D53-D4A3-4111-97A8-DD0F334E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391025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A"/>
                </a:solidFill>
              </a:defRPr>
            </a:pPr>
            <a:r>
              <a:rPr sz="1275" b="0">
                <a:solidFill>
                  <a:srgbClr val="68717A"/>
                </a:solidFill>
              </a:rPr>
              <a:t>完善未实现用例</a:t>
            </a:r>
          </a:p>
          <a:p xmlns:a="http://schemas.openxmlformats.org/drawingml/2006/main">
            <a:pPr algn="l">
              <a:defRPr sz="1275" b="0">
                <a:solidFill>
                  <a:srgbClr val="68717A"/>
                </a:solidFill>
              </a:defRPr>
            </a:pPr>
            <a:r>
              <a:rPr sz="1275" b="0">
                <a:solidFill>
                  <a:srgbClr val="68717A"/>
                </a:solidFill>
              </a:rPr>
              <a:t>修复缺陷</a:t>
            </a:r>
          </a:p>
          <a:p xmlns:a="http://schemas.openxmlformats.org/drawingml/2006/main">
            <a:pPr algn="l">
              <a:defRPr sz="1275" b="0">
                <a:solidFill>
                  <a:srgbClr val="68717A"/>
                </a:solidFill>
              </a:defRPr>
            </a:pPr>
            <a:r>
              <a:rPr sz="1275" b="0">
                <a:solidFill>
                  <a:srgbClr val="68717A"/>
                </a:solidFill>
              </a:rPr>
              <a:t>准备验收答辩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C20F4A-9E2B-4D7D-AAFC-0E4BD838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4292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0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7B55"/>
                </a:solidFill>
              </a:defRPr>
            </a:pPr>
            <a:r>
              <a:rPr sz="1125" b="1">
                <a:solidFill>
                  <a:srgbClr val="147B55"/>
                </a:solidFill>
              </a:rPr>
              <a:t>当前：验收收口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5752D2-DCA3-4715-83D9-0F6EC240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431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1836"/>
                </a:solidFill>
              </a:defRPr>
            </a:pPr>
            <a:r>
              <a:rPr sz="975" b="1">
                <a:solidFill>
                  <a:srgbClr val="9D1836"/>
                </a:solidFill>
              </a:rPr>
              <a:t>ROLLING PLAN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B19A1D-37C9-4E7A-9391-FD250C26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0574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91C"/>
                </a:solidFill>
              </a:defRPr>
            </a:pPr>
            <a:r>
              <a:rPr sz="1725" b="1">
                <a:solidFill>
                  <a:srgbClr val="17191C"/>
                </a:solidFill>
              </a:rPr>
              <a:t>评审反馈 → 计划细化 → 实现与测试 → 更新风险</a:t>
            </a:r>
          </a:p>
        </p:txBody>
      </p:sp>
    </p:spTree>
    <p:extLst>
      <p:ext uri="{BB962C8B-B14F-4D97-AF65-F5344CB8AC3E}">
        <p14:creationId xmlns:p14="http://schemas.microsoft.com/office/powerpoint/2010/main" val="79674116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EDA855-4BFC-4A63-B57E-91ED2F34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18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88940-ADCD-4131-AC73-8DB4EA2F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A"/>
                </a:solidFill>
              </a:defRPr>
            </a:pPr>
            <a:r>
              <a:rPr sz="900" b="1">
                <a:solidFill>
                  <a:srgbClr val="68717A"/>
                </a:solidFill>
              </a:rPr>
              <a:t>ISSUESCOPE / FINAL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DD0DF-016E-4AA5-A51F-63CA51CA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381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A"/>
                </a:solidFill>
              </a:defRPr>
            </a:pPr>
            <a:r>
              <a:rPr sz="900" b="1">
                <a:solidFill>
                  <a:srgbClr val="68717A"/>
                </a:solidFill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985E11-683A-41CE-A6D3-070823B3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C1AC93-F415-4C15-9460-E0C2C8EF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7A"/>
                </a:solidFill>
              </a:defRPr>
            </a:pPr>
            <a:r>
              <a:rPr sz="750" b="0">
                <a:solidFill>
                  <a:srgbClr val="68717A"/>
                </a:solidFill>
              </a:rPr>
              <a:t>A8 · GitHub 仓库问答与 Issue 分析系统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5F9649-322B-44E6-827A-0CBB7E47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1836"/>
                </a:solidFill>
              </a:defRPr>
            </a:pPr>
            <a:r>
              <a:rPr sz="975" b="1">
                <a:solidFill>
                  <a:srgbClr val="9D1836"/>
                </a:solidFill>
              </a:rPr>
              <a:t>TEAM COLLABORATION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3DE551-0973-4986-B80F-CC89BA46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67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91C"/>
                </a:solidFill>
              </a:defRPr>
            </a:pPr>
            <a:r>
              <a:rPr sz="2850" b="1">
                <a:solidFill>
                  <a:srgbClr val="17191C"/>
                </a:solidFill>
              </a:rPr>
              <a:t>四个人各自端到端负责一段，但共享同一数据链路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B59130-3790-4CFB-9CC2-F9FD86C5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分工不按前后端切割，每个人负责自己模块的界面、接口、数据处理与测试。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C1590-97E7-4D55-BA15-23E11037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0300"/>
            <a:ext cx="2400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18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B7BED-8283-4259-8547-74B6E51E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1836"/>
                </a:solidFill>
              </a:defRPr>
            </a:pPr>
            <a:r>
              <a:rPr sz="975" b="1">
                <a:solidFill>
                  <a:srgbClr val="9D1836"/>
                </a:solidFill>
              </a:rPr>
              <a:t>成员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60116D-6EE1-4377-AA91-CC203EDF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575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91C"/>
                </a:solidFill>
              </a:defRPr>
            </a:pPr>
            <a:r>
              <a:rPr sz="2025" b="1">
                <a:solidFill>
                  <a:srgbClr val="17191C"/>
                </a:solidFill>
              </a:rPr>
              <a:t>数据接入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A3F9C5-17A8-4277-95FE-17299943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90925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GitHub 同步</a:t>
            </a:r>
          </a:p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快照与存储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65FE43-3998-4AA7-8CE9-9B342D03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238500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solidFill>
              <a:srgbClr val="CED1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FB1765-5953-4777-A61E-6EA5ADEE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00300"/>
            <a:ext cx="2400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1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D5E035-64A7-4466-A852-017E134E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47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1D5"/>
                </a:solidFill>
              </a:defRPr>
            </a:pPr>
            <a:r>
              <a:rPr sz="975" b="1">
                <a:solidFill>
                  <a:srgbClr val="2F61D5"/>
                </a:solidFill>
              </a:rPr>
              <a:t>成员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400C88-92C4-448F-88DF-3B5BCF00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575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91C"/>
                </a:solidFill>
              </a:defRPr>
            </a:pPr>
            <a:r>
              <a:rPr sz="2025" b="1">
                <a:solidFill>
                  <a:srgbClr val="17191C"/>
                </a:solidFill>
              </a:rPr>
              <a:t>仓库问答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75751C-7255-49D6-8259-33159041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90925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Agent / RAG</a:t>
            </a:r>
          </a:p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前后端交互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076150-0AAB-439A-AA54-56F63111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38500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solidFill>
              <a:srgbClr val="CED1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40578F-05D3-4247-9414-7DA38CF5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2400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105E25-86EE-4203-9672-C1771FEA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47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B55"/>
                </a:solidFill>
              </a:defRPr>
            </a:pPr>
            <a:r>
              <a:rPr sz="975" b="1">
                <a:solidFill>
                  <a:srgbClr val="147B55"/>
                </a:solidFill>
              </a:rPr>
              <a:t>成员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76D578-B3AD-41E1-932C-3815C1BE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575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91C"/>
                </a:solidFill>
              </a:defRPr>
            </a:pPr>
            <a:r>
              <a:rPr sz="2025" b="1">
                <a:solidFill>
                  <a:srgbClr val="17191C"/>
                </a:solidFill>
              </a:rPr>
              <a:t>项目解析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FDD1B5-F34E-48D4-A2A6-45C011B7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90925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结构与关系</a:t>
            </a:r>
          </a:p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影响与演化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189B38-95C8-42CB-B675-2C91A98E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38500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solidFill>
              <a:srgbClr val="CED1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77A703-EE7A-47DF-82E9-4F6A108E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00300"/>
            <a:ext cx="2400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6A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BFBC73-4E8F-43A9-B803-C921712C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47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26A17"/>
                </a:solidFill>
              </a:defRPr>
            </a:pPr>
            <a:r>
              <a:rPr sz="975" b="1">
                <a:solidFill>
                  <a:srgbClr val="B26A17"/>
                </a:solidFill>
              </a:rPr>
              <a:t>成员 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0B7A7D-D527-4D29-8B83-C10FA885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575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91C"/>
                </a:solidFill>
              </a:defRPr>
            </a:pPr>
            <a:r>
              <a:rPr sz="2025" b="1">
                <a:solidFill>
                  <a:srgbClr val="17191C"/>
                </a:solidFill>
              </a:rPr>
              <a:t>Issue 工作流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771372-D636-4E29-9415-B3420712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90925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监听 / 分类</a:t>
            </a:r>
          </a:p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回复 / FAQ / 修复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7E0398-D3DF-433E-82A9-A871D1F7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10858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A75B24-0D71-442F-8B2C-8046BA4D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958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BDB9"/>
                </a:solidFill>
              </a:defRPr>
            </a:pPr>
            <a:r>
              <a:rPr sz="900" b="1">
                <a:solidFill>
                  <a:srgbClr val="B8BDB9"/>
                </a:solidFill>
              </a:rPr>
              <a:t>共享契约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71FF01-3E82-4308-A911-B1A2FA80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0482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RepositorySnapshot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A5B35B-0230-476D-887F-6B3F1548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048250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API Schema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05E4F7-29E0-43BC-853D-F920621B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04825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Git 分支 + PR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EAE11A-79D4-4747-97AD-460BBBAC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0482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统一测试与文档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F64FDA-C7B4-4D76-BB87-B0EA2702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7687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CCC9"/>
                </a:solidFill>
              </a:defRPr>
            </a:pPr>
            <a:r>
              <a:rPr sz="1200" b="0">
                <a:solidFill>
                  <a:srgbClr val="C8CCC9"/>
                </a:solidFill>
              </a:rPr>
              <a:t>模块独立推进，接口变更通过 PR 和联调集中处理。</a:t>
            </a:r>
          </a:p>
        </p:txBody>
      </p:sp>
    </p:spTree>
    <p:extLst>
      <p:ext uri="{BB962C8B-B14F-4D97-AF65-F5344CB8AC3E}">
        <p14:creationId xmlns:p14="http://schemas.microsoft.com/office/powerpoint/2010/main" val="159996426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B08E82-8F50-4C21-9732-ADE07835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18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A4A7C5-BEB7-455D-9760-E6AFD8D8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A"/>
                </a:solidFill>
              </a:defRPr>
            </a:pPr>
            <a:r>
              <a:rPr sz="900" b="1">
                <a:solidFill>
                  <a:srgbClr val="68717A"/>
                </a:solidFill>
              </a:rPr>
              <a:t>ISSUESCOPE / FINAL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462C88-C09F-4B63-90EF-387C4A6C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381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A"/>
                </a:solidFill>
              </a:defRPr>
            </a:pPr>
            <a:r>
              <a:rPr sz="900" b="1">
                <a:solidFill>
                  <a:srgbClr val="68717A"/>
                </a:solidFill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B95E4-145A-49BF-8E11-AF5FCBDA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325A53-267A-45F4-B61E-C44A9E81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7A"/>
                </a:solidFill>
              </a:defRPr>
            </a:pPr>
            <a:r>
              <a:rPr sz="750" b="0">
                <a:solidFill>
                  <a:srgbClr val="68717A"/>
                </a:solidFill>
              </a:rPr>
              <a:t>A8 · GitHub 仓库问答与 Issue 分析系统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652F19-6173-4266-81AE-C4BFFDCA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1836"/>
                </a:solidFill>
              </a:defRPr>
            </a:pPr>
            <a:r>
              <a:rPr sz="975" b="1">
                <a:solidFill>
                  <a:srgbClr val="9D1836"/>
                </a:solidFill>
              </a:rPr>
              <a:t>LESSONS LEARNED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CA35D0-5475-4C16-89F0-76492A51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67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91C"/>
                </a:solidFill>
              </a:defRPr>
            </a:pPr>
            <a:r>
              <a:rPr sz="2850" b="1">
                <a:solidFill>
                  <a:srgbClr val="17191C"/>
                </a:solidFill>
              </a:rPr>
              <a:t>最有价值的经验来自把“能演示”改成“可验证”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63CA7E-FC00-45CF-BA27-AB7EE948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A"/>
                </a:solidFill>
              </a:defRPr>
            </a:pPr>
            <a:r>
              <a:rPr sz="1350" b="0">
                <a:solidFill>
                  <a:srgbClr val="68717A"/>
                </a:solidFill>
              </a:rPr>
              <a:t>我们保留真实限制，也明确了下一步最需要继续收口的工程问题。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872B0-8823-4671-A2A6-915137AF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7B55"/>
                </a:solidFill>
              </a:defRPr>
            </a:pPr>
            <a:r>
              <a:rPr sz="2025" b="1">
                <a:solidFill>
                  <a:srgbClr val="147B55"/>
                </a:solidFill>
              </a:rPr>
              <a:t>做对的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B0A54E-DACB-43B1-8B3A-502D603E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4743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5232E6-E19C-4C75-972F-10D71E31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B55"/>
          </a:solidFill>
          <a:ln xmlns:a="http://schemas.openxmlformats.org/drawingml/2006/main" w="9525">
            <a:solidFill>
              <a:srgbClr val="147B5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095C02-CEDF-4930-A674-C177B2D2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718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91C"/>
                </a:solidFill>
              </a:defRPr>
            </a:pPr>
            <a:r>
              <a:rPr sz="1350" b="1">
                <a:solidFill>
                  <a:srgbClr val="17191C"/>
                </a:solidFill>
              </a:rPr>
              <a:t>先统一仓库数据，再拆分业务模块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81A997-D65E-4753-941E-6F43B6FA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671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B55"/>
          </a:solidFill>
          <a:ln xmlns:a="http://schemas.openxmlformats.org/drawingml/2006/main" w="9525">
            <a:solidFill>
              <a:srgbClr val="147B5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077A4F-CB61-4270-8812-AADD1E89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90925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91C"/>
                </a:solidFill>
              </a:defRPr>
            </a:pPr>
            <a:r>
              <a:rPr sz="1350" b="0">
                <a:solidFill>
                  <a:srgbClr val="17191C"/>
                </a:solidFill>
              </a:rPr>
              <a:t>规则事实与 LLM 推理分层，降低幻觉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24B6F7-4FF9-4458-AA54-7B20FB7F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B55"/>
          </a:solidFill>
          <a:ln xmlns:a="http://schemas.openxmlformats.org/drawingml/2006/main" w="9525">
            <a:solidFill>
              <a:srgbClr val="147B5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905768-663A-4648-B8A9-174533F3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00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91C"/>
                </a:solidFill>
              </a:defRPr>
            </a:pPr>
            <a:r>
              <a:rPr sz="1350" b="0">
                <a:solidFill>
                  <a:srgbClr val="17191C"/>
                </a:solidFill>
              </a:rPr>
              <a:t>通过接口和适配器替换数据库与外部服务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9F2D61-C65A-4C43-B0A8-38AB3B4F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053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B55"/>
          </a:solidFill>
          <a:ln xmlns:a="http://schemas.openxmlformats.org/drawingml/2006/main" w="9525">
            <a:solidFill>
              <a:srgbClr val="147B5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948B8C-FEB5-49CF-A1F6-483B80D8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29175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91C"/>
                </a:solidFill>
              </a:defRPr>
            </a:pPr>
            <a:r>
              <a:rPr sz="1350" b="0">
                <a:solidFill>
                  <a:srgbClr val="17191C"/>
                </a:solidFill>
              </a:rPr>
              <a:t>用真实测试失败推动实现和文档同步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86D702-03DE-44EB-92CD-280AB197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098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D1836"/>
                </a:solidFill>
              </a:defRPr>
            </a:pPr>
            <a:r>
              <a:rPr sz="2025" b="1">
                <a:solidFill>
                  <a:srgbClr val="9D1836"/>
                </a:solidFill>
              </a:rPr>
              <a:t>继续打磨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922E3C-0D77-4513-BA16-399ABE74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491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18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41B129-525B-4F4B-A74B-D2C31194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2E6"/>
          </a:solidFill>
          <a:ln xmlns:a="http://schemas.openxmlformats.org/drawingml/2006/main" w="9525">
            <a:solidFill>
              <a:srgbClr val="F1E2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D1836"/>
                </a:solidFill>
              </a:defRPr>
            </a:pPr>
            <a:r>
              <a:rPr sz="825" b="1">
                <a:solidFill>
                  <a:srgbClr val="9D1836"/>
                </a:solidFill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E16669-0699-45A4-B25D-8D1C5B42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718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91C"/>
                </a:solidFill>
              </a:defRPr>
            </a:pPr>
            <a:r>
              <a:rPr sz="1350" b="1">
                <a:solidFill>
                  <a:srgbClr val="17191C"/>
                </a:solidFill>
              </a:rPr>
              <a:t>大仓库同步改为后台任务并显示进度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A9E483-1860-4D29-8ACD-1836BABA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671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2E6"/>
          </a:solidFill>
          <a:ln xmlns:a="http://schemas.openxmlformats.org/drawingml/2006/main" w="9525">
            <a:solidFill>
              <a:srgbClr val="F1E2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D1836"/>
                </a:solidFill>
              </a:defRPr>
            </a:pPr>
            <a:r>
              <a:rPr sz="825" b="1">
                <a:solidFill>
                  <a:srgbClr val="9D1836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4876D0-B004-4E4B-AEEF-EAC78487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90925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91C"/>
                </a:solidFill>
              </a:defRPr>
            </a:pPr>
            <a:r>
              <a:rPr sz="1350" b="0">
                <a:solidFill>
                  <a:srgbClr val="17191C"/>
                </a:solidFill>
              </a:rPr>
              <a:t>继续扩大 AST 与跨语言调用关系覆盖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2DC9F5-7C94-491E-8BB0-4615B8A0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86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2E6"/>
          </a:solidFill>
          <a:ln xmlns:a="http://schemas.openxmlformats.org/drawingml/2006/main" w="9525">
            <a:solidFill>
              <a:srgbClr val="F1E2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D1836"/>
                </a:solidFill>
              </a:defRPr>
            </a:pPr>
            <a:r>
              <a:rPr sz="825" b="1">
                <a:solidFill>
                  <a:srgbClr val="9D1836"/>
                </a:solidFill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729DD0-5BA6-47AC-BE76-012F72F5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100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91C"/>
                </a:solidFill>
              </a:defRPr>
            </a:pPr>
            <a:r>
              <a:rPr sz="1350" b="0">
                <a:solidFill>
                  <a:srgbClr val="17191C"/>
                </a:solidFill>
              </a:rPr>
              <a:t>自动修复增加更严格的沙箱、回滚和审批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A59D40-7562-4E61-84DC-988EAE8D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053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2E6"/>
          </a:solidFill>
          <a:ln xmlns:a="http://schemas.openxmlformats.org/drawingml/2006/main" w="9525">
            <a:solidFill>
              <a:srgbClr val="F1E2E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D1836"/>
                </a:solidFill>
              </a:defRPr>
            </a:pPr>
            <a:r>
              <a:rPr sz="825" b="1">
                <a:solidFill>
                  <a:srgbClr val="9D1836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9ADCCF-36C2-48FF-9459-3BE93D59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829175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91C"/>
                </a:solidFill>
              </a:defRPr>
            </a:pPr>
            <a:r>
              <a:rPr sz="1350" b="0">
                <a:solidFill>
                  <a:srgbClr val="17191C"/>
                </a:solidFill>
              </a:rPr>
              <a:t>补充更长时间、多项目并发与模型质量评估</a:t>
            </a:r>
          </a:p>
        </p:txBody>
      </p:sp>
    </p:spTree>
    <p:extLst>
      <p:ext uri="{BB962C8B-B14F-4D97-AF65-F5344CB8AC3E}">
        <p14:creationId xmlns:p14="http://schemas.microsoft.com/office/powerpoint/2010/main" val="201995419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2BE32D-33C7-44A6-BF57-2923E6C0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18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6F56F-EBA8-43E9-846C-D97527F0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17A"/>
                </a:solidFill>
              </a:defRPr>
            </a:pPr>
            <a:r>
              <a:rPr sz="975" b="1">
                <a:solidFill>
                  <a:srgbClr val="68717A"/>
                </a:solidFill>
              </a:rPr>
              <a:t>ISSUESCOPE / PROJECT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71B5B-2FC6-4F51-986D-6FA8BF72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D1836"/>
                </a:solidFill>
              </a:defRPr>
            </a:pPr>
            <a:r>
              <a:rPr sz="1800" b="1">
                <a:solidFill>
                  <a:srgbClr val="9D1836"/>
                </a:solidFill>
              </a:rPr>
              <a:t>项目总结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0A966-89B8-491C-A840-5A83EA30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191C"/>
                </a:solidFill>
              </a:defRPr>
            </a:pPr>
            <a:r>
              <a:rPr sz="3225" b="1">
                <a:solidFill>
                  <a:srgbClr val="17191C"/>
                </a:solidFill>
              </a:rPr>
              <a:t>IssueScope 已完成核心维护链路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7F70CA-C9B4-4DF0-B12D-7ECE8DE7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17A"/>
                </a:solidFill>
              </a:defRPr>
            </a:pPr>
            <a:r>
              <a:rPr sz="1500" b="0">
                <a:solidFill>
                  <a:srgbClr val="68717A"/>
                </a:solidFill>
              </a:rPr>
              <a:t>从仓库同步到 Issue 辅助处理，各模块围绕同一份仓库上下文协同工作。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8E57DF-02A6-45F5-9AAB-B21BA265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1100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B09C4-4FEB-4337-AC46-28B4C5E6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1836"/>
                </a:solidFill>
              </a:defRPr>
            </a:pPr>
            <a:r>
              <a:rPr sz="975" b="1">
                <a:solidFill>
                  <a:srgbClr val="9D1836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D47E8-FA7E-4227-98D9-12BA5265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30517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91C"/>
                </a:solidFill>
              </a:defRPr>
            </a:pPr>
            <a:r>
              <a:rPr sz="1650" b="1">
                <a:solidFill>
                  <a:srgbClr val="17191C"/>
                </a:solidFill>
              </a:rPr>
              <a:t>已实现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46E8F8-1CB5-43ED-BB4B-5BCE1326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86125"/>
            <a:ext cx="7953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A"/>
                </a:solidFill>
              </a:defRPr>
            </a:pPr>
            <a:r>
              <a:rPr sz="1275" b="0">
                <a:solidFill>
                  <a:srgbClr val="68717A"/>
                </a:solidFill>
              </a:rPr>
              <a:t>仓库接入、结构解析、证据式问答、Issue 分类与回复、FAQ 和自动修复原型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7C3D27-CDDF-4AE7-A2B4-816C80B7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481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2A009D-EBD4-47FA-8721-22C084FA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148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D1836"/>
                </a:solidFill>
              </a:defRPr>
            </a:pPr>
            <a:r>
              <a:rPr sz="975" b="1">
                <a:solidFill>
                  <a:srgbClr val="9D1836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9CBD72-1E82-4319-BF3A-2CA5344C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8622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91C"/>
                </a:solidFill>
              </a:defRPr>
            </a:pPr>
            <a:r>
              <a:rPr sz="1650" b="1">
                <a:solidFill>
                  <a:srgbClr val="17191C"/>
                </a:solidFill>
              </a:rPr>
              <a:t>工程设计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7A99B8-4563-49D5-BDE1-F60A4C59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67175"/>
            <a:ext cx="7953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A"/>
                </a:solidFill>
              </a:defRPr>
            </a:pPr>
            <a:r>
              <a:rPr sz="1275" b="0">
                <a:solidFill>
                  <a:srgbClr val="68717A"/>
                </a:solidFill>
              </a:rPr>
              <a:t>分层架构、接口适配、规则与 LLM 分工，以及人工确认后的独立 PR 流程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95D9C1-9BAB-47BB-8D97-68B3E1AB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291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B25339-5C71-4101-B6AC-1795F6E5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958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B55"/>
                </a:solidFill>
              </a:defRPr>
            </a:pPr>
            <a:r>
              <a:rPr sz="975" b="1">
                <a:solidFill>
                  <a:srgbClr val="147B55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EDD459-95C7-4312-BB17-CC3AADBC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86727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91C"/>
                </a:solidFill>
              </a:defRPr>
            </a:pPr>
            <a:r>
              <a:rPr sz="1650" b="1">
                <a:solidFill>
                  <a:srgbClr val="17191C"/>
                </a:solidFill>
              </a:rPr>
              <a:t>验证结果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B99AED-A609-43BD-BA1F-C651A18F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48225"/>
            <a:ext cx="7953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A"/>
                </a:solidFill>
              </a:defRPr>
            </a:pPr>
            <a:r>
              <a:rPr sz="1275" b="0">
                <a:solidFill>
                  <a:srgbClr val="68717A"/>
                </a:solidFill>
              </a:rPr>
              <a:t>单元测试和系统测试全部通过，关键分类模块语句覆盖率 98.72%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9F8A55-2D0B-4C37-9DE3-9AD4E068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204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B8DCD8-8718-4DC6-9FE6-FA0A47B0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8959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谢谢老师和同学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B47E90-BC22-4DE7-B083-8305D23F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58959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欢迎提问</a:t>
            </a:r>
          </a:p>
        </p:txBody>
      </p:sp>
    </p:spTree>
    <p:extLst>
      <p:ext uri="{BB962C8B-B14F-4D97-AF65-F5344CB8AC3E}">
        <p14:creationId xmlns:p14="http://schemas.microsoft.com/office/powerpoint/2010/main" val="19573541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2026-07-28T07:20:08.5460000Z</dcterms:created>
  <dcterms:modified xsi:type="dcterms:W3CDTF">2026-07-28T07:20:08.5460000Z</dcterms:modified>
</coreProperties>
</file>